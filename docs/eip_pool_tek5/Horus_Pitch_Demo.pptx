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22638C-39DE-9F01-B811-628B6AA1ACA7}" v="79" dt="2026-09-09T14:34:38.9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up Marquez" userId="S::loup.marquez@epitech.eu::8a27857c-3ebe-4d95-8114-6e43003c7165" providerId="AD" clId="Web-{0922638C-39DE-9F01-B811-628B6AA1ACA7}"/>
    <pc:docChg chg="modSld">
      <pc:chgData name="Loup Marquez" userId="S::loup.marquez@epitech.eu::8a27857c-3ebe-4d95-8114-6e43003c7165" providerId="AD" clId="Web-{0922638C-39DE-9F01-B811-628B6AA1ACA7}" dt="2026-09-09T14:34:38.986" v="72" actId="14100"/>
      <pc:docMkLst>
        <pc:docMk/>
      </pc:docMkLst>
      <pc:sldChg chg="addSp modSp">
        <pc:chgData name="Loup Marquez" userId="S::loup.marquez@epitech.eu::8a27857c-3ebe-4d95-8114-6e43003c7165" providerId="AD" clId="Web-{0922638C-39DE-9F01-B811-628B6AA1ACA7}" dt="2026-09-09T14:07:31.068" v="8" actId="1076"/>
        <pc:sldMkLst>
          <pc:docMk/>
          <pc:sldMk cId="0" sldId="256"/>
        </pc:sldMkLst>
        <pc:picChg chg="add mod">
          <ac:chgData name="Loup Marquez" userId="S::loup.marquez@epitech.eu::8a27857c-3ebe-4d95-8114-6e43003c7165" providerId="AD" clId="Web-{0922638C-39DE-9F01-B811-628B6AA1ACA7}" dt="2026-09-09T14:07:31.068" v="8" actId="1076"/>
          <ac:picMkLst>
            <pc:docMk/>
            <pc:sldMk cId="0" sldId="256"/>
            <ac:picMk id="7" creationId="{276F3061-41B3-9D55-282F-EF33293C9E4B}"/>
          </ac:picMkLst>
        </pc:picChg>
      </pc:sldChg>
      <pc:sldChg chg="modSp">
        <pc:chgData name="Loup Marquez" userId="S::loup.marquez@epitech.eu::8a27857c-3ebe-4d95-8114-6e43003c7165" providerId="AD" clId="Web-{0922638C-39DE-9F01-B811-628B6AA1ACA7}" dt="2026-09-09T14:33:00.920" v="12" actId="20577"/>
        <pc:sldMkLst>
          <pc:docMk/>
          <pc:sldMk cId="0" sldId="263"/>
        </pc:sldMkLst>
        <pc:spChg chg="mod">
          <ac:chgData name="Loup Marquez" userId="S::loup.marquez@epitech.eu::8a27857c-3ebe-4d95-8114-6e43003c7165" providerId="AD" clId="Web-{0922638C-39DE-9F01-B811-628B6AA1ACA7}" dt="2026-09-09T14:32:53.169" v="11" actId="20577"/>
          <ac:spMkLst>
            <pc:docMk/>
            <pc:sldMk cId="0" sldId="263"/>
            <ac:spMk id="15" creationId="{00000000-0000-0000-0000-000000000000}"/>
          </ac:spMkLst>
        </pc:spChg>
        <pc:spChg chg="mod">
          <ac:chgData name="Loup Marquez" userId="S::loup.marquez@epitech.eu::8a27857c-3ebe-4d95-8114-6e43003c7165" providerId="AD" clId="Web-{0922638C-39DE-9F01-B811-628B6AA1ACA7}" dt="2026-09-09T14:33:00.920" v="12" actId="20577"/>
          <ac:spMkLst>
            <pc:docMk/>
            <pc:sldMk cId="0" sldId="263"/>
            <ac:spMk id="16" creationId="{00000000-0000-0000-0000-000000000000}"/>
          </ac:spMkLst>
        </pc:spChg>
      </pc:sldChg>
      <pc:sldChg chg="modSp">
        <pc:chgData name="Loup Marquez" userId="S::loup.marquez@epitech.eu::8a27857c-3ebe-4d95-8114-6e43003c7165" providerId="AD" clId="Web-{0922638C-39DE-9F01-B811-628B6AA1ACA7}" dt="2026-09-09T14:34:38.986" v="72" actId="14100"/>
        <pc:sldMkLst>
          <pc:docMk/>
          <pc:sldMk cId="0" sldId="265"/>
        </pc:sldMkLst>
        <pc:spChg chg="mod">
          <ac:chgData name="Loup Marquez" userId="S::loup.marquez@epitech.eu::8a27857c-3ebe-4d95-8114-6e43003c7165" providerId="AD" clId="Web-{0922638C-39DE-9F01-B811-628B6AA1ACA7}" dt="2026-09-09T14:34:38.986" v="72" actId="14100"/>
          <ac:spMkLst>
            <pc:docMk/>
            <pc:sldMk cId="0" sldId="265"/>
            <ac:spMk id="16" creationId="{00000000-0000-0000-0000-000000000000}"/>
          </ac:spMkLst>
        </pc:spChg>
        <pc:spChg chg="mod">
          <ac:chgData name="Loup Marquez" userId="S::loup.marquez@epitech.eu::8a27857c-3ebe-4d95-8114-6e43003c7165" providerId="AD" clId="Web-{0922638C-39DE-9F01-B811-628B6AA1ACA7}" dt="2026-09-09T13:22:02.373" v="1" actId="20577"/>
          <ac:spMkLst>
            <pc:docMk/>
            <pc:sldMk cId="0" sldId="265"/>
            <ac:spMk id="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91262753-1356-4235-A948-4E928123D3F8}" type="datetimeFigureOut">
              <a:t>9/9/2026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108F8319-3932-4EB8-93A3-5EB91A99B838}" type="slidenum">
              <a:t>‹#›</a:t>
            </a:fld>
            <a:endParaRPr lang="en-US"/>
          </a:p>
        </p:txBody>
      </p:sp>
    </p:spTree>
    <p:extLst>
      <p:ext uri="{BB962C8B-B14F-4D97-AF65-F5344CB8AC3E}">
        <p14:creationId xmlns:p14="http://schemas.microsoft.com/office/powerpoint/2010/main" val="1041912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0:00-0:20. Good morning. We are Horus. In the next eight minutes you will see a company get a private AI assistant, running on its own servers, without a single line of code - and you will watch it answer real questions from real documents,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0:20-1:00. Every company wants what ChatGPT does, inside the company. But the moment a finance manager pastes last quarter's numbers into a cloud AI, those numbers have left the building. IT cannot audit it. A regulator cannot inspect it. And you are asked to trust a policy, not something you can verify. We surveyed twenty-one professionals: sixteen still run critical work in spreadsheets, fourteen lose at least an hour a week to their tools, and fifteen want AI - but with a human in control. And this is not a niche worry: Gartner finds that over half of Western European enterprises are accelerating spending on data sovereignty this year.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1:00-1:40. Horus is that assistant, inside your walls. Three things matter. Private: it runs on your servers, and it works with the internet cable unplugged - we mean that literally. Simple: it ships as one ZIP file; you double-click one launcher and it installs itself. No consultants. Grounded: every answer comes from your own documents and tells you which one, and when the answer is not in your documents, it says so instead of inventing one. Under the hood several specialised agents work together, but the user only sees one chat. Let me show you.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1:40-4:40 - THREE MINUTES. Switch to the app. Talk while you click; never wait in silence. Step 1 (20 s): open the Horus desktop app, sign in as Alice. 'This is the whole product: one window, one login, no browser tabs.' Step 2 (35 s): Knowledge Store, upload 1_Q4_2025_Financial_Report.md - or open it if pre-uploaded. Click it. 'Nobody tagged this. Horus read it, called it Finance, and pulled out the amounts and dates on its own.' Step 3 (40 s): Chat. Type exactly: What was our Q4 2025 revenue? Pause. 'Four point two million. And it tells you where that came from.' Step 4 (45 s): Type exactly: Compare our Q4 spend against what the expense policy allows and flag anything out of policy. 'Two documents. It found the figures in one, the rule in the other, and gave one conclusion.' Step 5 (20 s): Type: What is the capital of Peru? 'It has no document about Peru, so it tells you that. It does not make things up - for a finance team that matters more than being clever.' Close (20 s): back to the dashboard. 'Everything you just saw ran on this laptop. The Wi-Fi could be off. That is the product.' IF THE DEMO BREAKS: say 'Let me show you the recording' and play the backup video. Do not debug on stage.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4:40-5:20. The market is not small. Companies will spend about forty-two billion dollars on AI this year, heading to a hundred and fifty-five billion by 2030. The largest slice, almost a quarter, is banking, finance and insurance - exactly the sector that cannot send data to the cloud. And from August this year the EU AI Act puts obligations on companies USING AI, not just building it. Our serviceable market is European companies that want AI on their own premises - we estimate around three and a half billion. Our realistic target: two hundred mid-size regulated companies in France and its neighbours by 2028, about two million euros in annual recurring revenue. Small enough to be credible, big enough to matter.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5:20-6:00. Two revenue lines. First, the licence, billed per quarter per site: fifteen hundred euros a quarter for a team of up to twenty-five, forty-five hundred up to a hundred, custom above that. That is six thousand a year for a small team - Microsoft charges nine thousand for the same twenty-five people, and keeps their data. Second: most of the companies we target do not own a GPU. So we rent them one - a desk-sized AI computer, three hundred euros a month, set up and replaced by us. The box costs us about four thousand three hundred and pays for itself in fourteen months. These are launch prices we will validate with our first pilots.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6:00-6:30. Who else is here? Cloud AI - ChatGPT Enterprise, Copilot, Amazon Bedrock - is easy, but your data leaves and it will not work offline. Open frameworks - LangChain, CrewAI - keep your data home, but they are toolkits: you need developers to build the product around them. Horus is the finished product with the privacy of the framework. We are not claiming a better AI model. We are claiming the installer, the users, the documents and the sources, all on your hardware, working on day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6:30-7:10. Where are we? Built and in beta. There is a full acceptance test plan of thirty-seven scenarios, from install to admin, written to Epitech's standard. The one-click installer has been tested end to end on clean machines, with and without a GPU, on all three platforms. This week two groups of third-year students are working through the plan without us in the room - their feedback lands next week. Next: test cycles through the autumn, our first pilot companies, and a public launch at Epitech Experience in February.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7:10-8:00. Two things we are building next. First, an agent that does not wait to be asked: it learns how your team works, suggests the next step, and remembers context. Second, a marketplace: build an agent for your own process by drag-and-drop, and share it - inside your company or with others. Both land by February. What would move us faster? Three pilot companies in finance, legal or health, to run Horus for one quarter. A hardware partner for the rental boxes. And from you today: honest feedback - on the price, on this pitch, and on who you would sell it 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8:00-8:20. Three of us built this over eighteen months. I lead the team and own the product and the delivery. Noah designed how the agents coordinate and brings the AI and security background. Matheus built the interface you just saw and the document search behind the answers.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8:20-8:30. Horus is built, it is tested, and you have just seen it run on a laptop with nothing leaving the room. Your AI, your servers, your rules. Thank you - we are ready for your questions. STOP TALKING. Let the silence sit for two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1417320"/>
            <a:ext cx="8229600" cy="914400"/>
          </a:xfrm>
          <a:prstGeom prst="rect">
            <a:avLst/>
          </a:prstGeom>
          <a:noFill/>
          <a:ln/>
        </p:spPr>
        <p:txBody>
          <a:bodyPr wrap="square" lIns="0" tIns="0" rIns="0" bIns="0" rtlCol="0" anchor="ctr"/>
          <a:lstStyle/>
          <a:p>
            <a:pPr marL="0" indent="0" algn="ctr">
              <a:buNone/>
            </a:pPr>
            <a:r>
              <a:rPr lang="en-US" sz="5400" b="1" kern="0" spc="600">
                <a:solidFill>
                  <a:srgbClr val="FFFFFF"/>
                </a:solidFill>
                <a:latin typeface="Calibri" pitchFamily="34" charset="0"/>
                <a:ea typeface="Calibri" pitchFamily="34" charset="-122"/>
                <a:cs typeface="Calibri" pitchFamily="34" charset="-120"/>
              </a:rPr>
              <a:t>HORUS</a:t>
            </a:r>
            <a:endParaRPr lang="en-US" sz="5400"/>
          </a:p>
        </p:txBody>
      </p:sp>
      <p:sp>
        <p:nvSpPr>
          <p:cNvPr id="4" name="Text 2"/>
          <p:cNvSpPr txBox="1"/>
          <p:nvPr/>
        </p:nvSpPr>
        <p:spPr>
          <a:xfrm>
            <a:off x="457200" y="2331720"/>
            <a:ext cx="8229600" cy="457200"/>
          </a:xfrm>
          <a:prstGeom prst="rect">
            <a:avLst/>
          </a:prstGeom>
          <a:noFill/>
          <a:ln/>
        </p:spPr>
        <p:txBody>
          <a:bodyPr wrap="square" lIns="0" tIns="0" rIns="0" bIns="0" rtlCol="0" anchor="ctr"/>
          <a:lstStyle/>
          <a:p>
            <a:pPr marL="0" indent="0" algn="ctr">
              <a:buNone/>
            </a:pPr>
            <a:r>
              <a:rPr lang="en-US" sz="2000">
                <a:solidFill>
                  <a:srgbClr val="4682B4"/>
                </a:solidFill>
                <a:latin typeface="Calibri" pitchFamily="34" charset="0"/>
                <a:ea typeface="Calibri" pitchFamily="34" charset="-122"/>
                <a:cs typeface="Calibri" pitchFamily="34" charset="-120"/>
              </a:rPr>
              <a:t>Your AI. Your servers. Your rules.</a:t>
            </a:r>
            <a:endParaRPr lang="en-US" sz="2000"/>
          </a:p>
        </p:txBody>
      </p:sp>
      <p:sp>
        <p:nvSpPr>
          <p:cNvPr id="5" name="Text 3"/>
          <p:cNvSpPr txBox="1"/>
          <p:nvPr/>
        </p:nvSpPr>
        <p:spPr>
          <a:xfrm>
            <a:off x="457200" y="2880360"/>
            <a:ext cx="8229600" cy="274320"/>
          </a:xfrm>
          <a:prstGeom prst="rect">
            <a:avLst/>
          </a:prstGeom>
          <a:noFill/>
          <a:ln/>
        </p:spPr>
        <p:txBody>
          <a:bodyPr wrap="square" lIns="0" tIns="0" rIns="0" bIns="0" rtlCol="0" anchor="ctr"/>
          <a:lstStyle/>
          <a:p>
            <a:pPr marL="0" indent="0" algn="ctr">
              <a:buNone/>
            </a:pPr>
            <a:r>
              <a:rPr lang="en-US" sz="1000" kern="0" spc="300">
                <a:solidFill>
                  <a:srgbClr val="DCDCDC"/>
                </a:solidFill>
                <a:latin typeface="Calibri" pitchFamily="34" charset="0"/>
                <a:ea typeface="Calibri" pitchFamily="34" charset="-122"/>
                <a:cs typeface="Calibri" pitchFamily="34" charset="-120"/>
              </a:rPr>
              <a:t>SELF-HOSTED   ·   PRIVATE   ·   ONE-CLICK</a:t>
            </a:r>
            <a:endParaRPr lang="en-US" sz="1000"/>
          </a:p>
        </p:txBody>
      </p:sp>
      <p:sp>
        <p:nvSpPr>
          <p:cNvPr id="6" name="Text 4"/>
          <p:cNvSpPr txBox="1"/>
          <p:nvPr/>
        </p:nvSpPr>
        <p:spPr>
          <a:xfrm>
            <a:off x="457200" y="3840480"/>
            <a:ext cx="8229600" cy="274320"/>
          </a:xfrm>
          <a:prstGeom prst="rect">
            <a:avLst/>
          </a:prstGeom>
          <a:noFill/>
          <a:ln/>
        </p:spPr>
        <p:txBody>
          <a:bodyPr wrap="square" lIns="0" tIns="0" rIns="0" bIns="0" rtlCol="0" anchor="ctr"/>
          <a:lstStyle/>
          <a:p>
            <a:pPr marL="0" indent="0" algn="ctr">
              <a:buNone/>
            </a:pPr>
            <a:r>
              <a:rPr lang="en-US" sz="1100">
                <a:solidFill>
                  <a:srgbClr val="4682B4"/>
                </a:solidFill>
                <a:latin typeface="Calibri" pitchFamily="34" charset="0"/>
                <a:ea typeface="Calibri" pitchFamily="34" charset="-122"/>
                <a:cs typeface="Calibri" pitchFamily="34" charset="-120"/>
              </a:rPr>
              <a:t>Loup Marquez-Luttringer   ·   Noah Gibelli   ·   Matheus Lopez</a:t>
            </a:r>
            <a:endParaRPr lang="en-US" sz="1100"/>
          </a:p>
        </p:txBody>
      </p:sp>
      <p:pic>
        <p:nvPicPr>
          <p:cNvPr id="7" name="Picture 6">
            <a:extLst>
              <a:ext uri="{FF2B5EF4-FFF2-40B4-BE49-F238E27FC236}">
                <a16:creationId xmlns:a16="http://schemas.microsoft.com/office/drawing/2014/main" id="{276F3061-41B3-9D55-282F-EF33293C9E4B}"/>
              </a:ext>
            </a:extLst>
          </p:cNvPr>
          <p:cNvPicPr>
            <a:picLocks noChangeAspect="1"/>
          </p:cNvPicPr>
          <p:nvPr/>
        </p:nvPicPr>
        <p:blipFill>
          <a:blip r:embed="rId3"/>
          <a:stretch>
            <a:fillRect/>
          </a:stretch>
        </p:blipFill>
        <p:spPr>
          <a:xfrm>
            <a:off x="4046242" y="287547"/>
            <a:ext cx="1051517" cy="9992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Companies want AI. They can't afford to leak their data.</a:t>
            </a:r>
            <a:endParaRPr lang="en-US" sz="2600"/>
          </a:p>
        </p:txBody>
      </p:sp>
      <p:sp>
        <p:nvSpPr>
          <p:cNvPr id="4" name="Text 2"/>
          <p:cNvSpPr txBox="1"/>
          <p:nvPr/>
        </p:nvSpPr>
        <p:spPr>
          <a:xfrm>
            <a:off x="457200" y="850392"/>
            <a:ext cx="8229600" cy="320040"/>
          </a:xfrm>
          <a:prstGeom prst="rect">
            <a:avLst/>
          </a:prstGeom>
          <a:noFill/>
          <a:ln/>
        </p:spPr>
        <p:txBody>
          <a:bodyPr wrap="square" lIns="0" tIns="0" rIns="0" bIns="0" rtlCol="0" anchor="ctr"/>
          <a:lstStyle/>
          <a:p>
            <a:pPr marL="0" indent="0">
              <a:buNone/>
            </a:pPr>
            <a:r>
              <a:rPr lang="en-US" sz="1200" i="1">
                <a:solidFill>
                  <a:srgbClr val="4682B4"/>
                </a:solidFill>
                <a:latin typeface="Calibri" pitchFamily="34" charset="0"/>
                <a:ea typeface="Calibri" pitchFamily="34" charset="-122"/>
                <a:cs typeface="Calibri" pitchFamily="34" charset="-120"/>
              </a:rPr>
              <a:t>Cloud AI means handing sensitive documents to a black box outside the company</a:t>
            </a:r>
            <a:endParaRPr lang="en-US" sz="1200"/>
          </a:p>
        </p:txBody>
      </p:sp>
      <p:sp>
        <p:nvSpPr>
          <p:cNvPr id="5" name="Shape 3"/>
          <p:cNvSpPr/>
          <p:nvPr/>
        </p:nvSpPr>
        <p:spPr>
          <a:xfrm>
            <a:off x="457200" y="1371600"/>
            <a:ext cx="1737360" cy="1600200"/>
          </a:xfrm>
          <a:prstGeom prst="roundRect">
            <a:avLst>
              <a:gd name="adj" fmla="val 4571"/>
            </a:avLst>
          </a:prstGeom>
          <a:solidFill>
            <a:srgbClr val="252B3B"/>
          </a:solidFill>
          <a:ln w="9525">
            <a:solidFill>
              <a:srgbClr val="343B4F"/>
            </a:solidFill>
            <a:prstDash val="solid"/>
          </a:ln>
        </p:spPr>
      </p:sp>
      <p:pic>
        <p:nvPicPr>
          <p:cNvPr id="6" name="Image 0" descr="preencoded.png"/>
          <p:cNvPicPr>
            <a:picLocks noChangeAspect="1"/>
          </p:cNvPicPr>
          <p:nvPr/>
        </p:nvPicPr>
        <p:blipFill>
          <a:blip r:embed="rId3"/>
          <a:stretch>
            <a:fillRect/>
          </a:stretch>
        </p:blipFill>
        <p:spPr>
          <a:xfrm>
            <a:off x="594360" y="1508760"/>
            <a:ext cx="347472" cy="347472"/>
          </a:xfrm>
          <a:prstGeom prst="rect">
            <a:avLst/>
          </a:prstGeom>
        </p:spPr>
      </p:pic>
      <p:sp>
        <p:nvSpPr>
          <p:cNvPr id="7" name="Text 4"/>
          <p:cNvSpPr txBox="1"/>
          <p:nvPr/>
        </p:nvSpPr>
        <p:spPr>
          <a:xfrm>
            <a:off x="594360" y="1920240"/>
            <a:ext cx="150876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Your data leaves</a:t>
            </a:r>
            <a:endParaRPr lang="en-US" sz="1200"/>
          </a:p>
        </p:txBody>
      </p:sp>
      <p:sp>
        <p:nvSpPr>
          <p:cNvPr id="8" name="Text 5"/>
          <p:cNvSpPr txBox="1"/>
          <p:nvPr/>
        </p:nvSpPr>
        <p:spPr>
          <a:xfrm>
            <a:off x="594360" y="2212848"/>
            <a:ext cx="1508760" cy="685800"/>
          </a:xfrm>
          <a:prstGeom prst="rect">
            <a:avLst/>
          </a:prstGeom>
          <a:noFill/>
          <a:ln/>
        </p:spPr>
        <p:txBody>
          <a:bodyPr wrap="square" lIns="0" tIns="0" rIns="0" bIns="0" rtlCol="0" anchor="t"/>
          <a:lstStyle/>
          <a:p>
            <a:pPr marL="0" indent="0">
              <a:buNone/>
            </a:pPr>
            <a:r>
              <a:rPr lang="en-US" sz="950">
                <a:solidFill>
                  <a:srgbClr val="DCDCDC"/>
                </a:solidFill>
                <a:latin typeface="Calibri" pitchFamily="34" charset="0"/>
                <a:ea typeface="Calibri" pitchFamily="34" charset="-122"/>
                <a:cs typeface="Calibri" pitchFamily="34" charset="-120"/>
              </a:rPr>
              <a:t>Every question, every document goes to a third-party server.</a:t>
            </a:r>
            <a:endParaRPr lang="en-US" sz="950"/>
          </a:p>
        </p:txBody>
      </p:sp>
      <p:sp>
        <p:nvSpPr>
          <p:cNvPr id="9" name="Shape 6"/>
          <p:cNvSpPr/>
          <p:nvPr/>
        </p:nvSpPr>
        <p:spPr>
          <a:xfrm>
            <a:off x="2331720" y="1371600"/>
            <a:ext cx="1737360" cy="1600200"/>
          </a:xfrm>
          <a:prstGeom prst="roundRect">
            <a:avLst>
              <a:gd name="adj" fmla="val 4571"/>
            </a:avLst>
          </a:prstGeom>
          <a:solidFill>
            <a:srgbClr val="252B3B"/>
          </a:solidFill>
          <a:ln w="9525">
            <a:solidFill>
              <a:srgbClr val="343B4F"/>
            </a:solidFill>
            <a:prstDash val="solid"/>
          </a:ln>
        </p:spPr>
      </p:sp>
      <p:pic>
        <p:nvPicPr>
          <p:cNvPr id="10" name="Image 1" descr="preencoded.png"/>
          <p:cNvPicPr>
            <a:picLocks noChangeAspect="1"/>
          </p:cNvPicPr>
          <p:nvPr/>
        </p:nvPicPr>
        <p:blipFill>
          <a:blip r:embed="rId4"/>
          <a:stretch>
            <a:fillRect/>
          </a:stretch>
        </p:blipFill>
        <p:spPr>
          <a:xfrm>
            <a:off x="2468880" y="1508760"/>
            <a:ext cx="347472" cy="347472"/>
          </a:xfrm>
          <a:prstGeom prst="rect">
            <a:avLst/>
          </a:prstGeom>
        </p:spPr>
      </p:pic>
      <p:sp>
        <p:nvSpPr>
          <p:cNvPr id="11" name="Text 7"/>
          <p:cNvSpPr txBox="1"/>
          <p:nvPr/>
        </p:nvSpPr>
        <p:spPr>
          <a:xfrm>
            <a:off x="2468880" y="1920240"/>
            <a:ext cx="150876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Not verifiable</a:t>
            </a:r>
            <a:endParaRPr lang="en-US" sz="1200"/>
          </a:p>
        </p:txBody>
      </p:sp>
      <p:sp>
        <p:nvSpPr>
          <p:cNvPr id="12" name="Text 8"/>
          <p:cNvSpPr txBox="1"/>
          <p:nvPr/>
        </p:nvSpPr>
        <p:spPr>
          <a:xfrm>
            <a:off x="2468880" y="2212848"/>
            <a:ext cx="1508760" cy="685800"/>
          </a:xfrm>
          <a:prstGeom prst="rect">
            <a:avLst/>
          </a:prstGeom>
          <a:noFill/>
          <a:ln/>
        </p:spPr>
        <p:txBody>
          <a:bodyPr wrap="square" lIns="0" tIns="0" rIns="0" bIns="0" rtlCol="0" anchor="t"/>
          <a:lstStyle/>
          <a:p>
            <a:pPr marL="0" indent="0">
              <a:buNone/>
            </a:pPr>
            <a:r>
              <a:rPr lang="en-US" sz="950">
                <a:solidFill>
                  <a:srgbClr val="DCDCDC"/>
                </a:solidFill>
                <a:latin typeface="Calibri" pitchFamily="34" charset="0"/>
                <a:ea typeface="Calibri" pitchFamily="34" charset="-122"/>
                <a:cs typeface="Calibri" pitchFamily="34" charset="-120"/>
              </a:rPr>
              <a:t>You are asked to trust a "secure" label, not something you can check.</a:t>
            </a:r>
            <a:endParaRPr lang="en-US" sz="950"/>
          </a:p>
        </p:txBody>
      </p:sp>
      <p:sp>
        <p:nvSpPr>
          <p:cNvPr id="13" name="Shape 9"/>
          <p:cNvSpPr/>
          <p:nvPr/>
        </p:nvSpPr>
        <p:spPr>
          <a:xfrm>
            <a:off x="4206240" y="1371600"/>
            <a:ext cx="1737360" cy="1600200"/>
          </a:xfrm>
          <a:prstGeom prst="roundRect">
            <a:avLst>
              <a:gd name="adj" fmla="val 4571"/>
            </a:avLst>
          </a:prstGeom>
          <a:solidFill>
            <a:srgbClr val="252B3B"/>
          </a:solidFill>
          <a:ln w="9525">
            <a:solidFill>
              <a:srgbClr val="343B4F"/>
            </a:solidFill>
            <a:prstDash val="solid"/>
          </a:ln>
        </p:spPr>
      </p:sp>
      <p:pic>
        <p:nvPicPr>
          <p:cNvPr id="14" name="Image 2" descr="preencoded.png"/>
          <p:cNvPicPr>
            <a:picLocks noChangeAspect="1"/>
          </p:cNvPicPr>
          <p:nvPr/>
        </p:nvPicPr>
        <p:blipFill>
          <a:blip r:embed="rId5"/>
          <a:stretch>
            <a:fillRect/>
          </a:stretch>
        </p:blipFill>
        <p:spPr>
          <a:xfrm>
            <a:off x="4343400" y="1508760"/>
            <a:ext cx="347472" cy="347472"/>
          </a:xfrm>
          <a:prstGeom prst="rect">
            <a:avLst/>
          </a:prstGeom>
        </p:spPr>
      </p:pic>
      <p:sp>
        <p:nvSpPr>
          <p:cNvPr id="15" name="Text 10"/>
          <p:cNvSpPr txBox="1"/>
          <p:nvPr/>
        </p:nvSpPr>
        <p:spPr>
          <a:xfrm>
            <a:off x="4343400" y="1920240"/>
            <a:ext cx="150876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Not on your premises</a:t>
            </a:r>
            <a:endParaRPr lang="en-US" sz="1200"/>
          </a:p>
        </p:txBody>
      </p:sp>
      <p:sp>
        <p:nvSpPr>
          <p:cNvPr id="16" name="Text 11"/>
          <p:cNvSpPr txBox="1"/>
          <p:nvPr/>
        </p:nvSpPr>
        <p:spPr>
          <a:xfrm>
            <a:off x="4343400" y="2212848"/>
            <a:ext cx="1508760" cy="685800"/>
          </a:xfrm>
          <a:prstGeom prst="rect">
            <a:avLst/>
          </a:prstGeom>
          <a:noFill/>
          <a:ln/>
        </p:spPr>
        <p:txBody>
          <a:bodyPr wrap="square" lIns="0" tIns="0" rIns="0" bIns="0" rtlCol="0" anchor="t"/>
          <a:lstStyle/>
          <a:p>
            <a:pPr marL="0" indent="0">
              <a:buNone/>
            </a:pPr>
            <a:r>
              <a:rPr lang="en-US" sz="950">
                <a:solidFill>
                  <a:srgbClr val="DCDCDC"/>
                </a:solidFill>
                <a:latin typeface="Calibri" pitchFamily="34" charset="0"/>
                <a:ea typeface="Calibri" pitchFamily="34" charset="-122"/>
                <a:cs typeface="Calibri" pitchFamily="34" charset="-120"/>
              </a:rPr>
              <a:t>IT cannot audit it, regulators cannot inspect it.</a:t>
            </a:r>
            <a:endParaRPr lang="en-US" sz="950"/>
          </a:p>
        </p:txBody>
      </p:sp>
      <p:sp>
        <p:nvSpPr>
          <p:cNvPr id="17" name="Shape 12"/>
          <p:cNvSpPr/>
          <p:nvPr/>
        </p:nvSpPr>
        <p:spPr>
          <a:xfrm>
            <a:off x="6172200" y="1371600"/>
            <a:ext cx="2514600" cy="3108960"/>
          </a:xfrm>
          <a:prstGeom prst="roundRect">
            <a:avLst>
              <a:gd name="adj" fmla="val 2909"/>
            </a:avLst>
          </a:prstGeom>
          <a:solidFill>
            <a:srgbClr val="252B3B"/>
          </a:solidFill>
          <a:ln w="9525">
            <a:solidFill>
              <a:srgbClr val="343B4F"/>
            </a:solidFill>
            <a:prstDash val="solid"/>
          </a:ln>
        </p:spPr>
      </p:sp>
      <p:sp>
        <p:nvSpPr>
          <p:cNvPr id="18" name="Text 13"/>
          <p:cNvSpPr txBox="1"/>
          <p:nvPr/>
        </p:nvSpPr>
        <p:spPr>
          <a:xfrm>
            <a:off x="6309360" y="1463040"/>
            <a:ext cx="2286000" cy="228600"/>
          </a:xfrm>
          <a:prstGeom prst="rect">
            <a:avLst/>
          </a:prstGeom>
          <a:noFill/>
          <a:ln/>
        </p:spPr>
        <p:txBody>
          <a:bodyPr wrap="square" lIns="0" tIns="0" rIns="0" bIns="0" rtlCol="0" anchor="ctr"/>
          <a:lstStyle/>
          <a:p>
            <a:pPr marL="0" indent="0">
              <a:buNone/>
            </a:pPr>
            <a:r>
              <a:rPr lang="en-US" sz="850" b="1" kern="0" spc="150">
                <a:solidFill>
                  <a:srgbClr val="4682B4"/>
                </a:solidFill>
                <a:latin typeface="Calibri" pitchFamily="34" charset="0"/>
                <a:ea typeface="Calibri" pitchFamily="34" charset="-122"/>
                <a:cs typeface="Calibri" pitchFamily="34" charset="-120"/>
              </a:rPr>
              <a:t>WHAT 21 PROFESSIONALS TOLD US</a:t>
            </a:r>
            <a:endParaRPr lang="en-US" sz="850"/>
          </a:p>
        </p:txBody>
      </p:sp>
      <p:sp>
        <p:nvSpPr>
          <p:cNvPr id="19" name="Text 14"/>
          <p:cNvSpPr txBox="1"/>
          <p:nvPr/>
        </p:nvSpPr>
        <p:spPr>
          <a:xfrm>
            <a:off x="6309360" y="1783080"/>
            <a:ext cx="2286000" cy="411480"/>
          </a:xfrm>
          <a:prstGeom prst="rect">
            <a:avLst/>
          </a:prstGeom>
          <a:noFill/>
          <a:ln/>
        </p:spPr>
        <p:txBody>
          <a:bodyPr wrap="square" lIns="0" tIns="0" rIns="0" bIns="0" rtlCol="0" anchor="ctr"/>
          <a:lstStyle/>
          <a:p>
            <a:pPr marL="0" indent="0">
              <a:buNone/>
            </a:pPr>
            <a:r>
              <a:rPr lang="en-US" sz="2400" b="1">
                <a:solidFill>
                  <a:srgbClr val="FFFFFF"/>
                </a:solidFill>
                <a:latin typeface="Calibri" pitchFamily="34" charset="0"/>
                <a:ea typeface="Calibri" pitchFamily="34" charset="-122"/>
                <a:cs typeface="Calibri" pitchFamily="34" charset="-120"/>
              </a:rPr>
              <a:t>16 / 21</a:t>
            </a:r>
            <a:endParaRPr lang="en-US" sz="2400"/>
          </a:p>
        </p:txBody>
      </p:sp>
      <p:sp>
        <p:nvSpPr>
          <p:cNvPr id="20" name="Text 15"/>
          <p:cNvSpPr txBox="1"/>
          <p:nvPr/>
        </p:nvSpPr>
        <p:spPr>
          <a:xfrm>
            <a:off x="6309360" y="2194560"/>
            <a:ext cx="2286000" cy="365760"/>
          </a:xfrm>
          <a:prstGeom prst="rect">
            <a:avLst/>
          </a:prstGeom>
          <a:noFill/>
          <a:ln/>
        </p:spPr>
        <p:txBody>
          <a:bodyPr wrap="square" lIns="0" tIns="0" rIns="0" bIns="0" rtlCol="0" anchor="t"/>
          <a:lstStyle/>
          <a:p>
            <a:pPr marL="0" indent="0">
              <a:buNone/>
            </a:pPr>
            <a:r>
              <a:rPr lang="en-US" sz="950">
                <a:solidFill>
                  <a:srgbClr val="DCDCDC"/>
                </a:solidFill>
                <a:latin typeface="Calibri" pitchFamily="34" charset="0"/>
                <a:ea typeface="Calibri" pitchFamily="34" charset="-122"/>
                <a:cs typeface="Calibri" pitchFamily="34" charset="-120"/>
              </a:rPr>
              <a:t>run critical tasks in spreadsheets</a:t>
            </a:r>
            <a:endParaRPr lang="en-US" sz="950"/>
          </a:p>
        </p:txBody>
      </p:sp>
      <p:sp>
        <p:nvSpPr>
          <p:cNvPr id="21" name="Text 16"/>
          <p:cNvSpPr txBox="1"/>
          <p:nvPr/>
        </p:nvSpPr>
        <p:spPr>
          <a:xfrm>
            <a:off x="6309360" y="2651760"/>
            <a:ext cx="2286000" cy="411480"/>
          </a:xfrm>
          <a:prstGeom prst="rect">
            <a:avLst/>
          </a:prstGeom>
          <a:noFill/>
          <a:ln/>
        </p:spPr>
        <p:txBody>
          <a:bodyPr wrap="square" lIns="0" tIns="0" rIns="0" bIns="0" rtlCol="0" anchor="ctr"/>
          <a:lstStyle/>
          <a:p>
            <a:pPr marL="0" indent="0">
              <a:buNone/>
            </a:pPr>
            <a:r>
              <a:rPr lang="en-US" sz="2400" b="1">
                <a:solidFill>
                  <a:srgbClr val="FFFFFF"/>
                </a:solidFill>
                <a:latin typeface="Calibri" pitchFamily="34" charset="0"/>
                <a:ea typeface="Calibri" pitchFamily="34" charset="-122"/>
                <a:cs typeface="Calibri" pitchFamily="34" charset="-120"/>
              </a:rPr>
              <a:t>14 / 21</a:t>
            </a:r>
            <a:endParaRPr lang="en-US" sz="2400"/>
          </a:p>
        </p:txBody>
      </p:sp>
      <p:sp>
        <p:nvSpPr>
          <p:cNvPr id="22" name="Text 17"/>
          <p:cNvSpPr txBox="1"/>
          <p:nvPr/>
        </p:nvSpPr>
        <p:spPr>
          <a:xfrm>
            <a:off x="6309360" y="3063240"/>
            <a:ext cx="2286000" cy="365760"/>
          </a:xfrm>
          <a:prstGeom prst="rect">
            <a:avLst/>
          </a:prstGeom>
          <a:noFill/>
          <a:ln/>
        </p:spPr>
        <p:txBody>
          <a:bodyPr wrap="square" lIns="0" tIns="0" rIns="0" bIns="0" rtlCol="0" anchor="t"/>
          <a:lstStyle/>
          <a:p>
            <a:pPr marL="0" indent="0">
              <a:buNone/>
            </a:pPr>
            <a:r>
              <a:rPr lang="en-US" sz="950">
                <a:solidFill>
                  <a:srgbClr val="DCDCDC"/>
                </a:solidFill>
                <a:latin typeface="Calibri" pitchFamily="34" charset="0"/>
                <a:ea typeface="Calibri" pitchFamily="34" charset="-122"/>
                <a:cs typeface="Calibri" pitchFamily="34" charset="-120"/>
              </a:rPr>
              <a:t>lose at least an hour a week to their tools</a:t>
            </a:r>
            <a:endParaRPr lang="en-US" sz="950"/>
          </a:p>
        </p:txBody>
      </p:sp>
      <p:sp>
        <p:nvSpPr>
          <p:cNvPr id="23" name="Text 18"/>
          <p:cNvSpPr txBox="1"/>
          <p:nvPr/>
        </p:nvSpPr>
        <p:spPr>
          <a:xfrm>
            <a:off x="6309360" y="3520440"/>
            <a:ext cx="2286000" cy="411480"/>
          </a:xfrm>
          <a:prstGeom prst="rect">
            <a:avLst/>
          </a:prstGeom>
          <a:noFill/>
          <a:ln/>
        </p:spPr>
        <p:txBody>
          <a:bodyPr wrap="square" lIns="0" tIns="0" rIns="0" bIns="0" rtlCol="0" anchor="ctr"/>
          <a:lstStyle/>
          <a:p>
            <a:pPr marL="0" indent="0">
              <a:buNone/>
            </a:pPr>
            <a:r>
              <a:rPr lang="en-US" sz="2400" b="1">
                <a:solidFill>
                  <a:srgbClr val="FFFFFF"/>
                </a:solidFill>
                <a:latin typeface="Calibri" pitchFamily="34" charset="0"/>
                <a:ea typeface="Calibri" pitchFamily="34" charset="-122"/>
                <a:cs typeface="Calibri" pitchFamily="34" charset="-120"/>
              </a:rPr>
              <a:t>15 / 21</a:t>
            </a:r>
            <a:endParaRPr lang="en-US" sz="2400"/>
          </a:p>
        </p:txBody>
      </p:sp>
      <p:sp>
        <p:nvSpPr>
          <p:cNvPr id="24" name="Text 19"/>
          <p:cNvSpPr txBox="1"/>
          <p:nvPr/>
        </p:nvSpPr>
        <p:spPr>
          <a:xfrm>
            <a:off x="6309360" y="3931920"/>
            <a:ext cx="2286000" cy="365760"/>
          </a:xfrm>
          <a:prstGeom prst="rect">
            <a:avLst/>
          </a:prstGeom>
          <a:noFill/>
          <a:ln/>
        </p:spPr>
        <p:txBody>
          <a:bodyPr wrap="square" lIns="0" tIns="0" rIns="0" bIns="0" rtlCol="0" anchor="t"/>
          <a:lstStyle/>
          <a:p>
            <a:pPr marL="0" indent="0">
              <a:buNone/>
            </a:pPr>
            <a:r>
              <a:rPr lang="en-US" sz="950">
                <a:solidFill>
                  <a:srgbClr val="DCDCDC"/>
                </a:solidFill>
                <a:latin typeface="Calibri" pitchFamily="34" charset="0"/>
                <a:ea typeface="Calibri" pitchFamily="34" charset="-122"/>
                <a:cs typeface="Calibri" pitchFamily="34" charset="-120"/>
              </a:rPr>
              <a:t>want AI - with a human keeping oversight</a:t>
            </a:r>
            <a:endParaRPr lang="en-US" sz="950"/>
          </a:p>
        </p:txBody>
      </p:sp>
      <p:sp>
        <p:nvSpPr>
          <p:cNvPr id="25" name="Text 20"/>
          <p:cNvSpPr txBox="1"/>
          <p:nvPr/>
        </p:nvSpPr>
        <p:spPr>
          <a:xfrm>
            <a:off x="6309360" y="4206240"/>
            <a:ext cx="2286000" cy="228600"/>
          </a:xfrm>
          <a:prstGeom prst="rect">
            <a:avLst/>
          </a:prstGeom>
          <a:noFill/>
          <a:ln/>
        </p:spPr>
        <p:txBody>
          <a:bodyPr wrap="square" lIns="0" tIns="0" rIns="0" bIns="0" rtlCol="0" anchor="ctr"/>
          <a:lstStyle/>
          <a:p>
            <a:pPr marL="0" indent="0">
              <a:buNone/>
            </a:pPr>
            <a:r>
              <a:rPr lang="en-US" sz="750" i="1">
                <a:solidFill>
                  <a:srgbClr val="9AA3B5"/>
                </a:solidFill>
                <a:latin typeface="Calibri" pitchFamily="34" charset="0"/>
                <a:ea typeface="Calibri" pitchFamily="34" charset="-122"/>
                <a:cs typeface="Calibri" pitchFamily="34" charset="-120"/>
              </a:rPr>
              <a:t>Internal survey, logistics, IT and other sectors</a:t>
            </a:r>
            <a:endParaRPr lang="en-US" sz="750"/>
          </a:p>
        </p:txBody>
      </p:sp>
      <p:sp>
        <p:nvSpPr>
          <p:cNvPr id="26" name="Shape 21"/>
          <p:cNvSpPr/>
          <p:nvPr/>
        </p:nvSpPr>
        <p:spPr>
          <a:xfrm>
            <a:off x="457200" y="3154680"/>
            <a:ext cx="5532120" cy="1188720"/>
          </a:xfrm>
          <a:prstGeom prst="roundRect">
            <a:avLst>
              <a:gd name="adj" fmla="val 6154"/>
            </a:avLst>
          </a:prstGeom>
          <a:solidFill>
            <a:srgbClr val="252B3B"/>
          </a:solidFill>
          <a:ln w="9525">
            <a:solidFill>
              <a:srgbClr val="343B4F"/>
            </a:solidFill>
            <a:prstDash val="solid"/>
          </a:ln>
        </p:spPr>
      </p:sp>
      <p:sp>
        <p:nvSpPr>
          <p:cNvPr id="27" name="Text 22"/>
          <p:cNvSpPr txBox="1"/>
          <p:nvPr/>
        </p:nvSpPr>
        <p:spPr>
          <a:xfrm>
            <a:off x="640080" y="3291840"/>
            <a:ext cx="1280160" cy="640080"/>
          </a:xfrm>
          <a:prstGeom prst="rect">
            <a:avLst/>
          </a:prstGeom>
          <a:noFill/>
          <a:ln/>
        </p:spPr>
        <p:txBody>
          <a:bodyPr wrap="square" lIns="0" tIns="0" rIns="0" bIns="0" rtlCol="0" anchor="ctr"/>
          <a:lstStyle/>
          <a:p>
            <a:pPr marL="0" indent="0">
              <a:buNone/>
            </a:pPr>
            <a:r>
              <a:rPr lang="en-US" sz="3600" b="1">
                <a:solidFill>
                  <a:srgbClr val="E67E22"/>
                </a:solidFill>
                <a:latin typeface="Calibri" pitchFamily="34" charset="0"/>
                <a:ea typeface="Calibri" pitchFamily="34" charset="-122"/>
                <a:cs typeface="Calibri" pitchFamily="34" charset="-120"/>
              </a:rPr>
              <a:t>52%</a:t>
            </a:r>
            <a:endParaRPr lang="en-US" sz="3600"/>
          </a:p>
        </p:txBody>
      </p:sp>
      <p:sp>
        <p:nvSpPr>
          <p:cNvPr id="28" name="Text 23"/>
          <p:cNvSpPr txBox="1"/>
          <p:nvPr/>
        </p:nvSpPr>
        <p:spPr>
          <a:xfrm>
            <a:off x="1965960" y="3291840"/>
            <a:ext cx="3886200" cy="1097280"/>
          </a:xfrm>
          <a:prstGeom prst="rect">
            <a:avLst/>
          </a:prstGeom>
          <a:noFill/>
          <a:ln/>
        </p:spPr>
        <p:txBody>
          <a:bodyPr wrap="square" lIns="0" tIns="0" rIns="0" bIns="0" rtlCol="0" anchor="t"/>
          <a:lstStyle/>
          <a:p>
            <a:pPr marL="0" indent="0">
              <a:spcAft>
                <a:spcPts val="400"/>
              </a:spcAft>
              <a:buNone/>
            </a:pPr>
            <a:r>
              <a:rPr lang="en-US" sz="1050">
                <a:solidFill>
                  <a:srgbClr val="DCDCDC"/>
                </a:solidFill>
                <a:latin typeface="Calibri" pitchFamily="34" charset="0"/>
                <a:ea typeface="Calibri" pitchFamily="34" charset="-122"/>
                <a:cs typeface="Calibri" pitchFamily="34" charset="-120"/>
              </a:rPr>
              <a:t>of Western European enterprises are accelerating investment in data sovereignty, and 47% are re-evaluating non-European cloud dependencies going into 2026.</a:t>
            </a:r>
            <a:endParaRPr lang="en-US" sz="1050"/>
          </a:p>
          <a:p>
            <a:pPr marL="0" indent="0">
              <a:spcAft>
                <a:spcPts val="400"/>
              </a:spcAft>
              <a:buNone/>
            </a:pPr>
            <a:r>
              <a:rPr lang="en-US" sz="750" i="1">
                <a:solidFill>
                  <a:srgbClr val="9AA3B5"/>
                </a:solidFill>
                <a:latin typeface="Calibri" pitchFamily="34" charset="0"/>
                <a:ea typeface="Calibri" pitchFamily="34" charset="-122"/>
                <a:cs typeface="Calibri" pitchFamily="34" charset="-120"/>
              </a:rPr>
              <a:t>Gartner, via Scalefocus, 2026</a:t>
            </a:r>
            <a:endParaRPr lang="en-US" sz="10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Horus: your company's AI, inside your walls</a:t>
            </a:r>
            <a:endParaRPr lang="en-US" sz="2600"/>
          </a:p>
        </p:txBody>
      </p:sp>
      <p:sp>
        <p:nvSpPr>
          <p:cNvPr id="4" name="Text 2"/>
          <p:cNvSpPr txBox="1"/>
          <p:nvPr/>
        </p:nvSpPr>
        <p:spPr>
          <a:xfrm>
            <a:off x="457200" y="850392"/>
            <a:ext cx="8229600" cy="320040"/>
          </a:xfrm>
          <a:prstGeom prst="rect">
            <a:avLst/>
          </a:prstGeom>
          <a:noFill/>
          <a:ln/>
        </p:spPr>
        <p:txBody>
          <a:bodyPr wrap="square" lIns="0" tIns="0" rIns="0" bIns="0" rtlCol="0" anchor="ctr"/>
          <a:lstStyle/>
          <a:p>
            <a:pPr marL="0" indent="0">
              <a:buNone/>
            </a:pPr>
            <a:r>
              <a:rPr lang="en-US" sz="1200" i="1">
                <a:solidFill>
                  <a:srgbClr val="4682B4"/>
                </a:solidFill>
                <a:latin typeface="Calibri" pitchFamily="34" charset="0"/>
                <a:ea typeface="Calibri" pitchFamily="34" charset="-122"/>
                <a:cs typeface="Calibri" pitchFamily="34" charset="-120"/>
              </a:rPr>
              <a:t>A private assistant that reads your documents and answers with its sources, on hardware you own</a:t>
            </a:r>
            <a:endParaRPr lang="en-US" sz="1200"/>
          </a:p>
        </p:txBody>
      </p:sp>
      <p:sp>
        <p:nvSpPr>
          <p:cNvPr id="5" name="Shape 3"/>
          <p:cNvSpPr/>
          <p:nvPr/>
        </p:nvSpPr>
        <p:spPr>
          <a:xfrm>
            <a:off x="457200" y="1417320"/>
            <a:ext cx="2651760" cy="2331720"/>
          </a:xfrm>
          <a:prstGeom prst="roundRect">
            <a:avLst>
              <a:gd name="adj" fmla="val 3137"/>
            </a:avLst>
          </a:prstGeom>
          <a:solidFill>
            <a:srgbClr val="252B3B"/>
          </a:solidFill>
          <a:ln w="9525">
            <a:solidFill>
              <a:srgbClr val="343B4F"/>
            </a:solidFill>
            <a:prstDash val="solid"/>
          </a:ln>
        </p:spPr>
      </p:sp>
      <p:pic>
        <p:nvPicPr>
          <p:cNvPr id="6" name="Image 0" descr="preencoded.png"/>
          <p:cNvPicPr>
            <a:picLocks noChangeAspect="1"/>
          </p:cNvPicPr>
          <p:nvPr/>
        </p:nvPicPr>
        <p:blipFill>
          <a:blip r:embed="rId3"/>
          <a:stretch>
            <a:fillRect/>
          </a:stretch>
        </p:blipFill>
        <p:spPr>
          <a:xfrm>
            <a:off x="640080" y="1600200"/>
            <a:ext cx="457200" cy="457200"/>
          </a:xfrm>
          <a:prstGeom prst="rect">
            <a:avLst/>
          </a:prstGeom>
        </p:spPr>
      </p:pic>
      <p:sp>
        <p:nvSpPr>
          <p:cNvPr id="7" name="Text 4"/>
          <p:cNvSpPr txBox="1"/>
          <p:nvPr/>
        </p:nvSpPr>
        <p:spPr>
          <a:xfrm>
            <a:off x="640080" y="2148840"/>
            <a:ext cx="2286000" cy="36576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Private</a:t>
            </a:r>
            <a:endParaRPr lang="en-US" sz="1800"/>
          </a:p>
        </p:txBody>
      </p:sp>
      <p:sp>
        <p:nvSpPr>
          <p:cNvPr id="8" name="Text 5"/>
          <p:cNvSpPr txBox="1"/>
          <p:nvPr/>
        </p:nvSpPr>
        <p:spPr>
          <a:xfrm>
            <a:off x="640080" y="2560320"/>
            <a:ext cx="2286000" cy="1097280"/>
          </a:xfrm>
          <a:prstGeom prst="rect">
            <a:avLst/>
          </a:prstGeom>
          <a:noFill/>
          <a:ln/>
        </p:spPr>
        <p:txBody>
          <a:bodyPr wrap="square" lIns="0" tIns="0" rIns="0" bIns="0" rtlCol="0" anchor="t"/>
          <a:lstStyle/>
          <a:p>
            <a:pPr marL="0" indent="0">
              <a:buNone/>
            </a:pPr>
            <a:r>
              <a:rPr lang="en-US" sz="1100">
                <a:solidFill>
                  <a:srgbClr val="DCDCDC"/>
                </a:solidFill>
                <a:latin typeface="Calibri" pitchFamily="34" charset="0"/>
                <a:ea typeface="Calibri" pitchFamily="34" charset="-122"/>
                <a:cs typeface="Calibri" pitchFamily="34" charset="-120"/>
              </a:rPr>
              <a:t>Runs entirely on your own servers. Works with the internet cable unplugged. Nothing leaves.</a:t>
            </a:r>
            <a:endParaRPr lang="en-US" sz="1100"/>
          </a:p>
        </p:txBody>
      </p:sp>
      <p:sp>
        <p:nvSpPr>
          <p:cNvPr id="9" name="Shape 6"/>
          <p:cNvSpPr/>
          <p:nvPr/>
        </p:nvSpPr>
        <p:spPr>
          <a:xfrm>
            <a:off x="3246120" y="1417320"/>
            <a:ext cx="2651760" cy="2331720"/>
          </a:xfrm>
          <a:prstGeom prst="roundRect">
            <a:avLst>
              <a:gd name="adj" fmla="val 3137"/>
            </a:avLst>
          </a:prstGeom>
          <a:solidFill>
            <a:srgbClr val="252B3B"/>
          </a:solidFill>
          <a:ln w="9525">
            <a:solidFill>
              <a:srgbClr val="343B4F"/>
            </a:solidFill>
            <a:prstDash val="solid"/>
          </a:ln>
        </p:spPr>
      </p:sp>
      <p:pic>
        <p:nvPicPr>
          <p:cNvPr id="10" name="Image 1" descr="preencoded.png"/>
          <p:cNvPicPr>
            <a:picLocks noChangeAspect="1"/>
          </p:cNvPicPr>
          <p:nvPr/>
        </p:nvPicPr>
        <p:blipFill>
          <a:blip r:embed="rId4"/>
          <a:stretch>
            <a:fillRect/>
          </a:stretch>
        </p:blipFill>
        <p:spPr>
          <a:xfrm>
            <a:off x="3429000" y="1600200"/>
            <a:ext cx="457200" cy="457200"/>
          </a:xfrm>
          <a:prstGeom prst="rect">
            <a:avLst/>
          </a:prstGeom>
        </p:spPr>
      </p:pic>
      <p:sp>
        <p:nvSpPr>
          <p:cNvPr id="11" name="Text 7"/>
          <p:cNvSpPr txBox="1"/>
          <p:nvPr/>
        </p:nvSpPr>
        <p:spPr>
          <a:xfrm>
            <a:off x="3429000" y="2148840"/>
            <a:ext cx="2286000" cy="36576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Simple</a:t>
            </a:r>
            <a:endParaRPr lang="en-US" sz="1800"/>
          </a:p>
        </p:txBody>
      </p:sp>
      <p:sp>
        <p:nvSpPr>
          <p:cNvPr id="12" name="Text 8"/>
          <p:cNvSpPr txBox="1"/>
          <p:nvPr/>
        </p:nvSpPr>
        <p:spPr>
          <a:xfrm>
            <a:off x="3429000" y="2560320"/>
            <a:ext cx="2286000" cy="1097280"/>
          </a:xfrm>
          <a:prstGeom prst="rect">
            <a:avLst/>
          </a:prstGeom>
          <a:noFill/>
          <a:ln/>
        </p:spPr>
        <p:txBody>
          <a:bodyPr wrap="square" lIns="0" tIns="0" rIns="0" bIns="0" rtlCol="0" anchor="t"/>
          <a:lstStyle/>
          <a:p>
            <a:pPr marL="0" indent="0">
              <a:buNone/>
            </a:pPr>
            <a:r>
              <a:rPr lang="en-US" sz="1100">
                <a:solidFill>
                  <a:srgbClr val="DCDCDC"/>
                </a:solidFill>
                <a:latin typeface="Calibri" pitchFamily="34" charset="0"/>
                <a:ea typeface="Calibri" pitchFamily="34" charset="-122"/>
                <a:cs typeface="Calibri" pitchFamily="34" charset="-120"/>
              </a:rPr>
              <a:t>One ZIP file, one double-click. The installer detects your hardware and sets everything up. No developers needed.</a:t>
            </a:r>
            <a:endParaRPr lang="en-US" sz="1100"/>
          </a:p>
        </p:txBody>
      </p:sp>
      <p:sp>
        <p:nvSpPr>
          <p:cNvPr id="13" name="Shape 9"/>
          <p:cNvSpPr/>
          <p:nvPr/>
        </p:nvSpPr>
        <p:spPr>
          <a:xfrm>
            <a:off x="6035040" y="1417320"/>
            <a:ext cx="2651760" cy="2331720"/>
          </a:xfrm>
          <a:prstGeom prst="roundRect">
            <a:avLst>
              <a:gd name="adj" fmla="val 3137"/>
            </a:avLst>
          </a:prstGeom>
          <a:solidFill>
            <a:srgbClr val="252B3B"/>
          </a:solidFill>
          <a:ln w="9525">
            <a:solidFill>
              <a:srgbClr val="343B4F"/>
            </a:solidFill>
            <a:prstDash val="solid"/>
          </a:ln>
        </p:spPr>
      </p:sp>
      <p:pic>
        <p:nvPicPr>
          <p:cNvPr id="14" name="Image 2" descr="preencoded.png"/>
          <p:cNvPicPr>
            <a:picLocks noChangeAspect="1"/>
          </p:cNvPicPr>
          <p:nvPr/>
        </p:nvPicPr>
        <p:blipFill>
          <a:blip r:embed="rId5"/>
          <a:stretch>
            <a:fillRect/>
          </a:stretch>
        </p:blipFill>
        <p:spPr>
          <a:xfrm>
            <a:off x="6217920" y="1600200"/>
            <a:ext cx="457200" cy="457200"/>
          </a:xfrm>
          <a:prstGeom prst="rect">
            <a:avLst/>
          </a:prstGeom>
        </p:spPr>
      </p:pic>
      <p:sp>
        <p:nvSpPr>
          <p:cNvPr id="15" name="Text 10"/>
          <p:cNvSpPr txBox="1"/>
          <p:nvPr/>
        </p:nvSpPr>
        <p:spPr>
          <a:xfrm>
            <a:off x="6217920" y="2148840"/>
            <a:ext cx="2286000" cy="36576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Grounded</a:t>
            </a:r>
            <a:endParaRPr lang="en-US" sz="1800"/>
          </a:p>
        </p:txBody>
      </p:sp>
      <p:sp>
        <p:nvSpPr>
          <p:cNvPr id="16" name="Text 11"/>
          <p:cNvSpPr txBox="1"/>
          <p:nvPr/>
        </p:nvSpPr>
        <p:spPr>
          <a:xfrm>
            <a:off x="6217920" y="2560320"/>
            <a:ext cx="2286000" cy="1097280"/>
          </a:xfrm>
          <a:prstGeom prst="rect">
            <a:avLst/>
          </a:prstGeom>
          <a:noFill/>
          <a:ln/>
        </p:spPr>
        <p:txBody>
          <a:bodyPr wrap="square" lIns="0" tIns="0" rIns="0" bIns="0" rtlCol="0" anchor="t"/>
          <a:lstStyle/>
          <a:p>
            <a:pPr marL="0" indent="0">
              <a:buNone/>
            </a:pPr>
            <a:r>
              <a:rPr lang="en-US" sz="1100">
                <a:solidFill>
                  <a:srgbClr val="DCDCDC"/>
                </a:solidFill>
                <a:latin typeface="Calibri" pitchFamily="34" charset="0"/>
                <a:ea typeface="Calibri" pitchFamily="34" charset="-122"/>
                <a:cs typeface="Calibri" pitchFamily="34" charset="-120"/>
              </a:rPr>
              <a:t>Answers come from your documents and name the source. When it does not know, it says so.</a:t>
            </a:r>
            <a:endParaRPr lang="en-US" sz="1100"/>
          </a:p>
        </p:txBody>
      </p:sp>
      <p:sp>
        <p:nvSpPr>
          <p:cNvPr id="17" name="Text 12"/>
          <p:cNvSpPr txBox="1"/>
          <p:nvPr/>
        </p:nvSpPr>
        <p:spPr>
          <a:xfrm>
            <a:off x="457200" y="3931920"/>
            <a:ext cx="8229600" cy="640080"/>
          </a:xfrm>
          <a:prstGeom prst="rect">
            <a:avLst/>
          </a:prstGeom>
          <a:noFill/>
          <a:ln/>
        </p:spPr>
        <p:txBody>
          <a:bodyPr wrap="square" lIns="0" tIns="0" rIns="0" bIns="0" rtlCol="0" anchor="t"/>
          <a:lstStyle/>
          <a:p>
            <a:pPr marL="0" indent="0">
              <a:buNone/>
            </a:pPr>
            <a:r>
              <a:rPr lang="en-US" sz="1100" b="1">
                <a:solidFill>
                  <a:srgbClr val="4682B4"/>
                </a:solidFill>
                <a:latin typeface="Calibri" pitchFamily="34" charset="0"/>
                <a:ea typeface="Calibri" pitchFamily="34" charset="-122"/>
                <a:cs typeface="Calibri" pitchFamily="34" charset="-120"/>
              </a:rPr>
              <a:t>Under the hood: </a:t>
            </a:r>
            <a:r>
              <a:rPr lang="en-US" sz="1100">
                <a:solidFill>
                  <a:srgbClr val="DCDCDC"/>
                </a:solidFill>
                <a:latin typeface="Calibri" pitchFamily="34" charset="0"/>
                <a:ea typeface="Calibri" pitchFamily="34" charset="-122"/>
                <a:cs typeface="Calibri" pitchFamily="34" charset="-120"/>
              </a:rPr>
              <a:t>several specialised AI agents work together on each request - a finance agent, an HR agent, a compliance agent - coordinated by Horus. Users just see one chat.</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Live demo - Alice, finance manager at FinCorp</a:t>
            </a:r>
            <a:endParaRPr lang="en-US" sz="2600"/>
          </a:p>
        </p:txBody>
      </p:sp>
      <p:sp>
        <p:nvSpPr>
          <p:cNvPr id="4" name="Text 2"/>
          <p:cNvSpPr txBox="1"/>
          <p:nvPr/>
        </p:nvSpPr>
        <p:spPr>
          <a:xfrm>
            <a:off x="457200" y="850392"/>
            <a:ext cx="8229600" cy="320040"/>
          </a:xfrm>
          <a:prstGeom prst="rect">
            <a:avLst/>
          </a:prstGeom>
          <a:noFill/>
          <a:ln/>
        </p:spPr>
        <p:txBody>
          <a:bodyPr wrap="square" lIns="0" tIns="0" rIns="0" bIns="0" rtlCol="0" anchor="ctr"/>
          <a:lstStyle/>
          <a:p>
            <a:pPr marL="0" indent="0">
              <a:buNone/>
            </a:pPr>
            <a:r>
              <a:rPr lang="en-US" sz="1200" i="1">
                <a:solidFill>
                  <a:srgbClr val="4682B4"/>
                </a:solidFill>
                <a:latin typeface="Calibri" pitchFamily="34" charset="0"/>
                <a:ea typeface="Calibri" pitchFamily="34" charset="-122"/>
                <a:cs typeface="Calibri" pitchFamily="34" charset="-120"/>
              </a:rPr>
              <a:t>Running on this laptop. No data leaves the room.</a:t>
            </a:r>
            <a:endParaRPr lang="en-US" sz="1200"/>
          </a:p>
        </p:txBody>
      </p:sp>
      <p:sp>
        <p:nvSpPr>
          <p:cNvPr id="5" name="Shape 3"/>
          <p:cNvSpPr/>
          <p:nvPr/>
        </p:nvSpPr>
        <p:spPr>
          <a:xfrm>
            <a:off x="457200" y="1426464"/>
            <a:ext cx="384048" cy="384048"/>
          </a:xfrm>
          <a:prstGeom prst="ellipse">
            <a:avLst/>
          </a:prstGeom>
          <a:solidFill>
            <a:srgbClr val="4682B4"/>
          </a:solidFill>
          <a:ln w="12700">
            <a:solidFill>
              <a:srgbClr val="4682B4"/>
            </a:solidFill>
            <a:prstDash val="solid"/>
          </a:ln>
        </p:spPr>
      </p:sp>
      <p:sp>
        <p:nvSpPr>
          <p:cNvPr id="6" name="Text 4"/>
          <p:cNvSpPr txBox="1"/>
          <p:nvPr/>
        </p:nvSpPr>
        <p:spPr>
          <a:xfrm>
            <a:off x="457200" y="1426464"/>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7" name="Text 5"/>
          <p:cNvSpPr txBox="1"/>
          <p:nvPr/>
        </p:nvSpPr>
        <p:spPr>
          <a:xfrm>
            <a:off x="1005840" y="1371600"/>
            <a:ext cx="2103120" cy="5029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Open Horus</a:t>
            </a:r>
            <a:endParaRPr lang="en-US" sz="1300"/>
          </a:p>
        </p:txBody>
      </p:sp>
      <p:sp>
        <p:nvSpPr>
          <p:cNvPr id="8" name="Text 6"/>
          <p:cNvSpPr txBox="1"/>
          <p:nvPr/>
        </p:nvSpPr>
        <p:spPr>
          <a:xfrm>
            <a:off x="3154680" y="1371600"/>
            <a:ext cx="4846320" cy="502920"/>
          </a:xfrm>
          <a:prstGeom prst="rect">
            <a:avLst/>
          </a:prstGeom>
          <a:noFill/>
          <a:ln/>
        </p:spPr>
        <p:txBody>
          <a:bodyPr wrap="square" lIns="0" tIns="0" rIns="0" bIns="0" rtlCol="0" anchor="ctr"/>
          <a:lstStyle/>
          <a:p>
            <a:pPr marL="0" indent="0">
              <a:buNone/>
            </a:pPr>
            <a:r>
              <a:rPr lang="en-US" sz="1050">
                <a:solidFill>
                  <a:srgbClr val="DCDCDC"/>
                </a:solidFill>
                <a:latin typeface="Calibri" pitchFamily="34" charset="0"/>
                <a:ea typeface="Calibri" pitchFamily="34" charset="-122"/>
                <a:cs typeface="Calibri" pitchFamily="34" charset="-120"/>
              </a:rPr>
              <a:t>The desktop app. Alice signs in with her company account.</a:t>
            </a:r>
            <a:endParaRPr lang="en-US" sz="1050"/>
          </a:p>
        </p:txBody>
      </p:sp>
      <p:sp>
        <p:nvSpPr>
          <p:cNvPr id="9" name="Shape 7"/>
          <p:cNvSpPr/>
          <p:nvPr/>
        </p:nvSpPr>
        <p:spPr>
          <a:xfrm>
            <a:off x="457200" y="2029968"/>
            <a:ext cx="384048" cy="384048"/>
          </a:xfrm>
          <a:prstGeom prst="ellipse">
            <a:avLst/>
          </a:prstGeom>
          <a:solidFill>
            <a:srgbClr val="4682B4"/>
          </a:solidFill>
          <a:ln w="12700">
            <a:solidFill>
              <a:srgbClr val="4682B4"/>
            </a:solidFill>
            <a:prstDash val="solid"/>
          </a:ln>
        </p:spPr>
      </p:sp>
      <p:sp>
        <p:nvSpPr>
          <p:cNvPr id="10" name="Text 8"/>
          <p:cNvSpPr txBox="1"/>
          <p:nvPr/>
        </p:nvSpPr>
        <p:spPr>
          <a:xfrm>
            <a:off x="457200" y="2029968"/>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1" name="Text 9"/>
          <p:cNvSpPr txBox="1"/>
          <p:nvPr/>
        </p:nvSpPr>
        <p:spPr>
          <a:xfrm>
            <a:off x="1005840" y="1975104"/>
            <a:ext cx="2103120" cy="5029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Upload the Q4 report</a:t>
            </a:r>
            <a:endParaRPr lang="en-US" sz="1300"/>
          </a:p>
        </p:txBody>
      </p:sp>
      <p:sp>
        <p:nvSpPr>
          <p:cNvPr id="12" name="Text 10"/>
          <p:cNvSpPr txBox="1"/>
          <p:nvPr/>
        </p:nvSpPr>
        <p:spPr>
          <a:xfrm>
            <a:off x="3154680" y="1975104"/>
            <a:ext cx="4846320" cy="502920"/>
          </a:xfrm>
          <a:prstGeom prst="rect">
            <a:avLst/>
          </a:prstGeom>
          <a:noFill/>
          <a:ln/>
        </p:spPr>
        <p:txBody>
          <a:bodyPr wrap="square" lIns="0" tIns="0" rIns="0" bIns="0" rtlCol="0" anchor="ctr"/>
          <a:lstStyle/>
          <a:p>
            <a:pPr marL="0" indent="0">
              <a:buNone/>
            </a:pPr>
            <a:r>
              <a:rPr lang="en-US" sz="1050">
                <a:solidFill>
                  <a:srgbClr val="DCDCDC"/>
                </a:solidFill>
                <a:latin typeface="Calibri" pitchFamily="34" charset="0"/>
                <a:ea typeface="Calibri" pitchFamily="34" charset="-122"/>
                <a:cs typeface="Calibri" pitchFamily="34" charset="-120"/>
              </a:rPr>
              <a:t>Horus reads it, classifies it as Finance, pulls out amounts and dates. No tagging.</a:t>
            </a:r>
            <a:endParaRPr lang="en-US" sz="1050"/>
          </a:p>
        </p:txBody>
      </p:sp>
      <p:sp>
        <p:nvSpPr>
          <p:cNvPr id="13" name="Shape 11"/>
          <p:cNvSpPr/>
          <p:nvPr/>
        </p:nvSpPr>
        <p:spPr>
          <a:xfrm>
            <a:off x="457200" y="2633472"/>
            <a:ext cx="384048" cy="384048"/>
          </a:xfrm>
          <a:prstGeom prst="ellipse">
            <a:avLst/>
          </a:prstGeom>
          <a:solidFill>
            <a:srgbClr val="4682B4"/>
          </a:solidFill>
          <a:ln w="12700">
            <a:solidFill>
              <a:srgbClr val="4682B4"/>
            </a:solidFill>
            <a:prstDash val="solid"/>
          </a:ln>
        </p:spPr>
      </p:sp>
      <p:sp>
        <p:nvSpPr>
          <p:cNvPr id="14" name="Text 12"/>
          <p:cNvSpPr txBox="1"/>
          <p:nvPr/>
        </p:nvSpPr>
        <p:spPr>
          <a:xfrm>
            <a:off x="457200" y="2633472"/>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5" name="Text 13"/>
          <p:cNvSpPr txBox="1"/>
          <p:nvPr/>
        </p:nvSpPr>
        <p:spPr>
          <a:xfrm>
            <a:off x="1005840" y="2578608"/>
            <a:ext cx="2103120" cy="5029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Ask a plain question</a:t>
            </a:r>
            <a:endParaRPr lang="en-US" sz="1300"/>
          </a:p>
        </p:txBody>
      </p:sp>
      <p:sp>
        <p:nvSpPr>
          <p:cNvPr id="16" name="Text 14"/>
          <p:cNvSpPr txBox="1"/>
          <p:nvPr/>
        </p:nvSpPr>
        <p:spPr>
          <a:xfrm>
            <a:off x="3154680" y="2578608"/>
            <a:ext cx="4846320" cy="502920"/>
          </a:xfrm>
          <a:prstGeom prst="rect">
            <a:avLst/>
          </a:prstGeom>
          <a:noFill/>
          <a:ln/>
        </p:spPr>
        <p:txBody>
          <a:bodyPr wrap="square" lIns="0" tIns="0" rIns="0" bIns="0" rtlCol="0" anchor="ctr"/>
          <a:lstStyle/>
          <a:p>
            <a:pPr marL="0" indent="0">
              <a:buNone/>
            </a:pPr>
            <a:r>
              <a:rPr lang="en-US" sz="1050">
                <a:solidFill>
                  <a:srgbClr val="DCDCDC"/>
                </a:solidFill>
                <a:latin typeface="Calibri" pitchFamily="34" charset="0"/>
                <a:ea typeface="Calibri" pitchFamily="34" charset="-122"/>
                <a:cs typeface="Calibri" pitchFamily="34" charset="-120"/>
              </a:rPr>
              <a:t>"What was our Q4 2025 revenue?"  -&gt;  $4.2M, source named, in about two seconds.</a:t>
            </a:r>
            <a:endParaRPr lang="en-US" sz="1050"/>
          </a:p>
        </p:txBody>
      </p:sp>
      <p:sp>
        <p:nvSpPr>
          <p:cNvPr id="17" name="Shape 15"/>
          <p:cNvSpPr/>
          <p:nvPr/>
        </p:nvSpPr>
        <p:spPr>
          <a:xfrm>
            <a:off x="457200" y="3236976"/>
            <a:ext cx="384048" cy="384048"/>
          </a:xfrm>
          <a:prstGeom prst="ellipse">
            <a:avLst/>
          </a:prstGeom>
          <a:solidFill>
            <a:srgbClr val="4682B4"/>
          </a:solidFill>
          <a:ln w="12700">
            <a:solidFill>
              <a:srgbClr val="4682B4"/>
            </a:solidFill>
            <a:prstDash val="solid"/>
          </a:ln>
        </p:spPr>
      </p:sp>
      <p:sp>
        <p:nvSpPr>
          <p:cNvPr id="18" name="Text 16"/>
          <p:cNvSpPr txBox="1"/>
          <p:nvPr/>
        </p:nvSpPr>
        <p:spPr>
          <a:xfrm>
            <a:off x="457200" y="3236976"/>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4</a:t>
            </a:r>
            <a:endParaRPr lang="en-US" sz="1300"/>
          </a:p>
        </p:txBody>
      </p:sp>
      <p:sp>
        <p:nvSpPr>
          <p:cNvPr id="19" name="Text 17"/>
          <p:cNvSpPr txBox="1"/>
          <p:nvPr/>
        </p:nvSpPr>
        <p:spPr>
          <a:xfrm>
            <a:off x="1005840" y="3182112"/>
            <a:ext cx="2103120" cy="5029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Ask a hard one</a:t>
            </a:r>
            <a:endParaRPr lang="en-US" sz="1300"/>
          </a:p>
        </p:txBody>
      </p:sp>
      <p:sp>
        <p:nvSpPr>
          <p:cNvPr id="20" name="Text 18"/>
          <p:cNvSpPr txBox="1"/>
          <p:nvPr/>
        </p:nvSpPr>
        <p:spPr>
          <a:xfrm>
            <a:off x="3154680" y="3182112"/>
            <a:ext cx="4846320" cy="502920"/>
          </a:xfrm>
          <a:prstGeom prst="rect">
            <a:avLst/>
          </a:prstGeom>
          <a:noFill/>
          <a:ln/>
        </p:spPr>
        <p:txBody>
          <a:bodyPr wrap="square" lIns="0" tIns="0" rIns="0" bIns="0" rtlCol="0" anchor="ctr"/>
          <a:lstStyle/>
          <a:p>
            <a:pPr marL="0" indent="0">
              <a:buNone/>
            </a:pPr>
            <a:r>
              <a:rPr lang="en-US" sz="1050">
                <a:solidFill>
                  <a:srgbClr val="DCDCDC"/>
                </a:solidFill>
                <a:latin typeface="Calibri" pitchFamily="34" charset="0"/>
                <a:ea typeface="Calibri" pitchFamily="34" charset="-122"/>
                <a:cs typeface="Calibri" pitchFamily="34" charset="-120"/>
              </a:rPr>
              <a:t>"Compare Q4 spend to our expense policy."  -&gt;  two documents, one answer.</a:t>
            </a:r>
            <a:endParaRPr lang="en-US" sz="1050"/>
          </a:p>
        </p:txBody>
      </p:sp>
      <p:sp>
        <p:nvSpPr>
          <p:cNvPr id="21" name="Shape 19"/>
          <p:cNvSpPr/>
          <p:nvPr/>
        </p:nvSpPr>
        <p:spPr>
          <a:xfrm>
            <a:off x="457200" y="3840480"/>
            <a:ext cx="384048" cy="384048"/>
          </a:xfrm>
          <a:prstGeom prst="ellipse">
            <a:avLst/>
          </a:prstGeom>
          <a:solidFill>
            <a:srgbClr val="4682B4"/>
          </a:solidFill>
          <a:ln w="12700">
            <a:solidFill>
              <a:srgbClr val="4682B4"/>
            </a:solidFill>
            <a:prstDash val="solid"/>
          </a:ln>
        </p:spPr>
      </p:sp>
      <p:sp>
        <p:nvSpPr>
          <p:cNvPr id="22" name="Text 20"/>
          <p:cNvSpPr txBox="1"/>
          <p:nvPr/>
        </p:nvSpPr>
        <p:spPr>
          <a:xfrm>
            <a:off x="457200" y="38404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5</a:t>
            </a:r>
            <a:endParaRPr lang="en-US" sz="1300"/>
          </a:p>
        </p:txBody>
      </p:sp>
      <p:sp>
        <p:nvSpPr>
          <p:cNvPr id="23" name="Text 21"/>
          <p:cNvSpPr txBox="1"/>
          <p:nvPr/>
        </p:nvSpPr>
        <p:spPr>
          <a:xfrm>
            <a:off x="1005840" y="3785616"/>
            <a:ext cx="2103120" cy="5029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Ask what it can't know</a:t>
            </a:r>
            <a:endParaRPr lang="en-US" sz="1300"/>
          </a:p>
        </p:txBody>
      </p:sp>
      <p:sp>
        <p:nvSpPr>
          <p:cNvPr id="24" name="Text 22"/>
          <p:cNvSpPr txBox="1"/>
          <p:nvPr/>
        </p:nvSpPr>
        <p:spPr>
          <a:xfrm>
            <a:off x="3154680" y="3785616"/>
            <a:ext cx="4846320" cy="502920"/>
          </a:xfrm>
          <a:prstGeom prst="rect">
            <a:avLst/>
          </a:prstGeom>
          <a:noFill/>
          <a:ln/>
        </p:spPr>
        <p:txBody>
          <a:bodyPr wrap="square" lIns="0" tIns="0" rIns="0" bIns="0" rtlCol="0" anchor="ctr"/>
          <a:lstStyle/>
          <a:p>
            <a:pPr marL="0" indent="0">
              <a:buNone/>
            </a:pPr>
            <a:r>
              <a:rPr lang="en-US" sz="1050">
                <a:solidFill>
                  <a:srgbClr val="DCDCDC"/>
                </a:solidFill>
                <a:latin typeface="Calibri" pitchFamily="34" charset="0"/>
                <a:ea typeface="Calibri" pitchFamily="34" charset="-122"/>
                <a:cs typeface="Calibri" pitchFamily="34" charset="-120"/>
              </a:rPr>
              <a:t>"What is the capital of Peru?"  -&gt;  it says it has no document for that.</a:t>
            </a:r>
            <a:endParaRPr lang="en-US" sz="1050"/>
          </a:p>
        </p:txBody>
      </p:sp>
      <p:pic>
        <p:nvPicPr>
          <p:cNvPr id="25" name="Image 0" descr="preencoded.png"/>
          <p:cNvPicPr>
            <a:picLocks noChangeAspect="1"/>
          </p:cNvPicPr>
          <p:nvPr/>
        </p:nvPicPr>
        <p:blipFill>
          <a:blip r:embed="rId3"/>
          <a:stretch>
            <a:fillRect/>
          </a:stretch>
        </p:blipFill>
        <p:spPr>
          <a:xfrm>
            <a:off x="8138160" y="347472"/>
            <a:ext cx="502920" cy="502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A large market, and the part of it that needs us most</a:t>
            </a:r>
            <a:endParaRPr lang="en-US" sz="2600"/>
          </a:p>
        </p:txBody>
      </p:sp>
      <p:sp>
        <p:nvSpPr>
          <p:cNvPr id="4" name="Text 2"/>
          <p:cNvSpPr txBox="1"/>
          <p:nvPr/>
        </p:nvSpPr>
        <p:spPr>
          <a:xfrm>
            <a:off x="457200" y="850392"/>
            <a:ext cx="8229600" cy="320040"/>
          </a:xfrm>
          <a:prstGeom prst="rect">
            <a:avLst/>
          </a:prstGeom>
          <a:noFill/>
          <a:ln/>
        </p:spPr>
        <p:txBody>
          <a:bodyPr wrap="square" lIns="0" tIns="0" rIns="0" bIns="0" rtlCol="0" anchor="ctr"/>
          <a:lstStyle/>
          <a:p>
            <a:pPr marL="0" indent="0">
              <a:buNone/>
            </a:pPr>
            <a:r>
              <a:rPr lang="en-US" sz="1200" i="1">
                <a:solidFill>
                  <a:srgbClr val="4682B4"/>
                </a:solidFill>
                <a:latin typeface="Calibri" pitchFamily="34" charset="0"/>
                <a:ea typeface="Calibri" pitchFamily="34" charset="-122"/>
                <a:cs typeface="Calibri" pitchFamily="34" charset="-120"/>
              </a:rPr>
              <a:t>Enterprises are spending on AI - and regulated ones are being pushed to keep it in-house</a:t>
            </a:r>
            <a:endParaRPr lang="en-US" sz="1200"/>
          </a:p>
        </p:txBody>
      </p:sp>
      <p:sp>
        <p:nvSpPr>
          <p:cNvPr id="5" name="Shape 3"/>
          <p:cNvSpPr/>
          <p:nvPr/>
        </p:nvSpPr>
        <p:spPr>
          <a:xfrm>
            <a:off x="457200" y="1371600"/>
            <a:ext cx="2651760" cy="1417320"/>
          </a:xfrm>
          <a:prstGeom prst="roundRect">
            <a:avLst>
              <a:gd name="adj" fmla="val 5161"/>
            </a:avLst>
          </a:prstGeom>
          <a:solidFill>
            <a:srgbClr val="252B3B"/>
          </a:solidFill>
          <a:ln w="9525">
            <a:solidFill>
              <a:srgbClr val="343B4F"/>
            </a:solidFill>
            <a:prstDash val="solid"/>
          </a:ln>
        </p:spPr>
      </p:sp>
      <p:sp>
        <p:nvSpPr>
          <p:cNvPr id="6" name="Text 4"/>
          <p:cNvSpPr txBox="1"/>
          <p:nvPr/>
        </p:nvSpPr>
        <p:spPr>
          <a:xfrm>
            <a:off x="640080" y="1444752"/>
            <a:ext cx="2286000" cy="548640"/>
          </a:xfrm>
          <a:prstGeom prst="rect">
            <a:avLst/>
          </a:prstGeom>
          <a:noFill/>
          <a:ln/>
        </p:spPr>
        <p:txBody>
          <a:bodyPr wrap="square" lIns="0" tIns="0" rIns="0" bIns="0" rtlCol="0" anchor="ctr"/>
          <a:lstStyle/>
          <a:p>
            <a:pPr marL="0" indent="0">
              <a:buNone/>
            </a:pPr>
            <a:r>
              <a:rPr lang="en-US" sz="3000" b="1">
                <a:solidFill>
                  <a:srgbClr val="FFFFFF"/>
                </a:solidFill>
                <a:latin typeface="Calibri" pitchFamily="34" charset="0"/>
                <a:ea typeface="Calibri" pitchFamily="34" charset="-122"/>
                <a:cs typeface="Calibri" pitchFamily="34" charset="-120"/>
              </a:rPr>
              <a:t>$42B</a:t>
            </a:r>
            <a:endParaRPr lang="en-US" sz="3000"/>
          </a:p>
        </p:txBody>
      </p:sp>
      <p:sp>
        <p:nvSpPr>
          <p:cNvPr id="7" name="Text 5"/>
          <p:cNvSpPr txBox="1"/>
          <p:nvPr/>
        </p:nvSpPr>
        <p:spPr>
          <a:xfrm>
            <a:off x="640080" y="2011680"/>
            <a:ext cx="2286000" cy="274320"/>
          </a:xfrm>
          <a:prstGeom prst="rect">
            <a:avLst/>
          </a:prstGeom>
          <a:noFill/>
          <a:ln/>
        </p:spPr>
        <p:txBody>
          <a:bodyPr wrap="square" lIns="0" tIns="0" rIns="0" bIns="0" rtlCol="0" anchor="ctr"/>
          <a:lstStyle/>
          <a:p>
            <a:pPr marL="0" indent="0">
              <a:buNone/>
            </a:pPr>
            <a:r>
              <a:rPr lang="en-US" sz="1100">
                <a:solidFill>
                  <a:srgbClr val="DCDCDC"/>
                </a:solidFill>
                <a:latin typeface="Calibri" pitchFamily="34" charset="0"/>
                <a:ea typeface="Calibri" pitchFamily="34" charset="-122"/>
                <a:cs typeface="Calibri" pitchFamily="34" charset="-120"/>
              </a:rPr>
              <a:t>enterprise AI spend, 2026</a:t>
            </a:r>
            <a:endParaRPr lang="en-US" sz="1100"/>
          </a:p>
        </p:txBody>
      </p:sp>
      <p:sp>
        <p:nvSpPr>
          <p:cNvPr id="8" name="Text 6"/>
          <p:cNvSpPr txBox="1"/>
          <p:nvPr/>
        </p:nvSpPr>
        <p:spPr>
          <a:xfrm>
            <a:off x="640080" y="2304288"/>
            <a:ext cx="2286000" cy="411480"/>
          </a:xfrm>
          <a:prstGeom prst="rect">
            <a:avLst/>
          </a:prstGeom>
          <a:noFill/>
          <a:ln/>
        </p:spPr>
        <p:txBody>
          <a:bodyPr wrap="square" lIns="0" tIns="0" rIns="0" bIns="0" rtlCol="0" anchor="t"/>
          <a:lstStyle/>
          <a:p>
            <a:pPr marL="0" indent="0">
              <a:buNone/>
            </a:pPr>
            <a:r>
              <a:rPr lang="en-US" sz="850" i="1">
                <a:solidFill>
                  <a:srgbClr val="9AA3B5"/>
                </a:solidFill>
                <a:latin typeface="Calibri" pitchFamily="34" charset="0"/>
                <a:ea typeface="Calibri" pitchFamily="34" charset="-122"/>
                <a:cs typeface="Calibri" pitchFamily="34" charset="-120"/>
              </a:rPr>
              <a:t>-&gt; $155B by 2030 (Grand View Research)</a:t>
            </a:r>
            <a:endParaRPr lang="en-US" sz="850"/>
          </a:p>
        </p:txBody>
      </p:sp>
      <p:sp>
        <p:nvSpPr>
          <p:cNvPr id="9" name="Shape 7"/>
          <p:cNvSpPr/>
          <p:nvPr/>
        </p:nvSpPr>
        <p:spPr>
          <a:xfrm>
            <a:off x="3246120" y="1371600"/>
            <a:ext cx="2651760" cy="1417320"/>
          </a:xfrm>
          <a:prstGeom prst="roundRect">
            <a:avLst>
              <a:gd name="adj" fmla="val 5161"/>
            </a:avLst>
          </a:prstGeom>
          <a:solidFill>
            <a:srgbClr val="252B3B"/>
          </a:solidFill>
          <a:ln w="9525">
            <a:solidFill>
              <a:srgbClr val="343B4F"/>
            </a:solidFill>
            <a:prstDash val="solid"/>
          </a:ln>
        </p:spPr>
      </p:sp>
      <p:sp>
        <p:nvSpPr>
          <p:cNvPr id="10" name="Text 8"/>
          <p:cNvSpPr txBox="1"/>
          <p:nvPr/>
        </p:nvSpPr>
        <p:spPr>
          <a:xfrm>
            <a:off x="3429000" y="1444752"/>
            <a:ext cx="2286000" cy="548640"/>
          </a:xfrm>
          <a:prstGeom prst="rect">
            <a:avLst/>
          </a:prstGeom>
          <a:noFill/>
          <a:ln/>
        </p:spPr>
        <p:txBody>
          <a:bodyPr wrap="square" lIns="0" tIns="0" rIns="0" bIns="0" rtlCol="0" anchor="ctr"/>
          <a:lstStyle/>
          <a:p>
            <a:pPr marL="0" indent="0">
              <a:buNone/>
            </a:pPr>
            <a:r>
              <a:rPr lang="en-US" sz="3000" b="1">
                <a:solidFill>
                  <a:srgbClr val="FFFFFF"/>
                </a:solidFill>
                <a:latin typeface="Calibri" pitchFamily="34" charset="0"/>
                <a:ea typeface="Calibri" pitchFamily="34" charset="-122"/>
                <a:cs typeface="Calibri" pitchFamily="34" charset="-120"/>
              </a:rPr>
              <a:t>24%</a:t>
            </a:r>
            <a:endParaRPr lang="en-US" sz="3000"/>
          </a:p>
        </p:txBody>
      </p:sp>
      <p:sp>
        <p:nvSpPr>
          <p:cNvPr id="11" name="Text 9"/>
          <p:cNvSpPr txBox="1"/>
          <p:nvPr/>
        </p:nvSpPr>
        <p:spPr>
          <a:xfrm>
            <a:off x="3429000" y="2011680"/>
            <a:ext cx="2286000" cy="274320"/>
          </a:xfrm>
          <a:prstGeom prst="rect">
            <a:avLst/>
          </a:prstGeom>
          <a:noFill/>
          <a:ln/>
        </p:spPr>
        <p:txBody>
          <a:bodyPr wrap="square" lIns="0" tIns="0" rIns="0" bIns="0" rtlCol="0" anchor="ctr"/>
          <a:lstStyle/>
          <a:p>
            <a:pPr marL="0" indent="0">
              <a:buNone/>
            </a:pPr>
            <a:r>
              <a:rPr lang="en-US" sz="1100">
                <a:solidFill>
                  <a:srgbClr val="DCDCDC"/>
                </a:solidFill>
                <a:latin typeface="Calibri" pitchFamily="34" charset="0"/>
                <a:ea typeface="Calibri" pitchFamily="34" charset="-122"/>
                <a:cs typeface="Calibri" pitchFamily="34" charset="-120"/>
              </a:rPr>
              <a:t>of it is banking, finance &amp; insurance</a:t>
            </a:r>
            <a:endParaRPr lang="en-US" sz="1100"/>
          </a:p>
        </p:txBody>
      </p:sp>
      <p:sp>
        <p:nvSpPr>
          <p:cNvPr id="12" name="Text 10"/>
          <p:cNvSpPr txBox="1"/>
          <p:nvPr/>
        </p:nvSpPr>
        <p:spPr>
          <a:xfrm>
            <a:off x="3429000" y="2304288"/>
            <a:ext cx="2286000" cy="411480"/>
          </a:xfrm>
          <a:prstGeom prst="rect">
            <a:avLst/>
          </a:prstGeom>
          <a:noFill/>
          <a:ln/>
        </p:spPr>
        <p:txBody>
          <a:bodyPr wrap="square" lIns="0" tIns="0" rIns="0" bIns="0" rtlCol="0" anchor="t"/>
          <a:lstStyle/>
          <a:p>
            <a:pPr marL="0" indent="0">
              <a:buNone/>
            </a:pPr>
            <a:r>
              <a:rPr lang="en-US" sz="850" i="1">
                <a:solidFill>
                  <a:srgbClr val="9AA3B5"/>
                </a:solidFill>
                <a:latin typeface="Calibri" pitchFamily="34" charset="0"/>
                <a:ea typeface="Calibri" pitchFamily="34" charset="-122"/>
                <a:cs typeface="Calibri" pitchFamily="34" charset="-120"/>
              </a:rPr>
              <a:t>the largest single sector (Mordor Intelligence)</a:t>
            </a:r>
            <a:endParaRPr lang="en-US" sz="850"/>
          </a:p>
        </p:txBody>
      </p:sp>
      <p:sp>
        <p:nvSpPr>
          <p:cNvPr id="13" name="Shape 11"/>
          <p:cNvSpPr/>
          <p:nvPr/>
        </p:nvSpPr>
        <p:spPr>
          <a:xfrm>
            <a:off x="6035040" y="1371600"/>
            <a:ext cx="2651760" cy="1417320"/>
          </a:xfrm>
          <a:prstGeom prst="roundRect">
            <a:avLst>
              <a:gd name="adj" fmla="val 5161"/>
            </a:avLst>
          </a:prstGeom>
          <a:solidFill>
            <a:srgbClr val="252B3B"/>
          </a:solidFill>
          <a:ln w="9525">
            <a:solidFill>
              <a:srgbClr val="343B4F"/>
            </a:solidFill>
            <a:prstDash val="solid"/>
          </a:ln>
        </p:spPr>
      </p:sp>
      <p:sp>
        <p:nvSpPr>
          <p:cNvPr id="14" name="Text 12"/>
          <p:cNvSpPr txBox="1"/>
          <p:nvPr/>
        </p:nvSpPr>
        <p:spPr>
          <a:xfrm>
            <a:off x="6217920" y="1444752"/>
            <a:ext cx="2286000" cy="548640"/>
          </a:xfrm>
          <a:prstGeom prst="rect">
            <a:avLst/>
          </a:prstGeom>
          <a:noFill/>
          <a:ln/>
        </p:spPr>
        <p:txBody>
          <a:bodyPr wrap="square" lIns="0" tIns="0" rIns="0" bIns="0" rtlCol="0" anchor="ctr"/>
          <a:lstStyle/>
          <a:p>
            <a:pPr marL="0" indent="0">
              <a:buNone/>
            </a:pPr>
            <a:r>
              <a:rPr lang="en-US" sz="3000" b="1">
                <a:solidFill>
                  <a:srgbClr val="FFFFFF"/>
                </a:solidFill>
                <a:latin typeface="Calibri" pitchFamily="34" charset="0"/>
                <a:ea typeface="Calibri" pitchFamily="34" charset="-122"/>
                <a:cs typeface="Calibri" pitchFamily="34" charset="-120"/>
              </a:rPr>
              <a:t>Aug 2026</a:t>
            </a:r>
            <a:endParaRPr lang="en-US" sz="3000"/>
          </a:p>
        </p:txBody>
      </p:sp>
      <p:sp>
        <p:nvSpPr>
          <p:cNvPr id="15" name="Text 13"/>
          <p:cNvSpPr txBox="1"/>
          <p:nvPr/>
        </p:nvSpPr>
        <p:spPr>
          <a:xfrm>
            <a:off x="6217920" y="2011680"/>
            <a:ext cx="2286000" cy="274320"/>
          </a:xfrm>
          <a:prstGeom prst="rect">
            <a:avLst/>
          </a:prstGeom>
          <a:noFill/>
          <a:ln/>
        </p:spPr>
        <p:txBody>
          <a:bodyPr wrap="square" lIns="0" tIns="0" rIns="0" bIns="0" rtlCol="0" anchor="ctr"/>
          <a:lstStyle/>
          <a:p>
            <a:pPr marL="0" indent="0">
              <a:buNone/>
            </a:pPr>
            <a:r>
              <a:rPr lang="en-US" sz="1100">
                <a:solidFill>
                  <a:srgbClr val="DCDCDC"/>
                </a:solidFill>
                <a:latin typeface="Calibri" pitchFamily="34" charset="0"/>
                <a:ea typeface="Calibri" pitchFamily="34" charset="-122"/>
                <a:cs typeface="Calibri" pitchFamily="34" charset="-120"/>
              </a:rPr>
              <a:t>EU AI Act enforcement begins</a:t>
            </a:r>
            <a:endParaRPr lang="en-US" sz="1100"/>
          </a:p>
        </p:txBody>
      </p:sp>
      <p:sp>
        <p:nvSpPr>
          <p:cNvPr id="16" name="Text 14"/>
          <p:cNvSpPr txBox="1"/>
          <p:nvPr/>
        </p:nvSpPr>
        <p:spPr>
          <a:xfrm>
            <a:off x="6217920" y="2304288"/>
            <a:ext cx="2286000" cy="411480"/>
          </a:xfrm>
          <a:prstGeom prst="rect">
            <a:avLst/>
          </a:prstGeom>
          <a:noFill/>
          <a:ln/>
        </p:spPr>
        <p:txBody>
          <a:bodyPr wrap="square" lIns="0" tIns="0" rIns="0" bIns="0" rtlCol="0" anchor="t"/>
          <a:lstStyle/>
          <a:p>
            <a:pPr marL="0" indent="0">
              <a:buNone/>
            </a:pPr>
            <a:r>
              <a:rPr lang="en-US" sz="850" i="1">
                <a:solidFill>
                  <a:srgbClr val="9AA3B5"/>
                </a:solidFill>
                <a:latin typeface="Calibri" pitchFamily="34" charset="0"/>
                <a:ea typeface="Calibri" pitchFamily="34" charset="-122"/>
                <a:cs typeface="Calibri" pitchFamily="34" charset="-120"/>
              </a:rPr>
              <a:t>obligations land on the companies using AI</a:t>
            </a:r>
            <a:endParaRPr lang="en-US" sz="850"/>
          </a:p>
        </p:txBody>
      </p:sp>
      <p:sp>
        <p:nvSpPr>
          <p:cNvPr id="17" name="Shape 15"/>
          <p:cNvSpPr/>
          <p:nvPr/>
        </p:nvSpPr>
        <p:spPr>
          <a:xfrm>
            <a:off x="457200" y="2971800"/>
            <a:ext cx="914400" cy="457200"/>
          </a:xfrm>
          <a:prstGeom prst="roundRect">
            <a:avLst>
              <a:gd name="adj" fmla="val 12000"/>
            </a:avLst>
          </a:prstGeom>
          <a:solidFill>
            <a:srgbClr val="343B4F"/>
          </a:solidFill>
          <a:ln w="12700">
            <a:solidFill>
              <a:srgbClr val="343B4F"/>
            </a:solidFill>
            <a:prstDash val="solid"/>
          </a:ln>
        </p:spPr>
      </p:sp>
      <p:sp>
        <p:nvSpPr>
          <p:cNvPr id="18" name="Text 16"/>
          <p:cNvSpPr txBox="1"/>
          <p:nvPr/>
        </p:nvSpPr>
        <p:spPr>
          <a:xfrm>
            <a:off x="457200" y="2971800"/>
            <a:ext cx="914400" cy="4572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TAM</a:t>
            </a:r>
            <a:endParaRPr lang="en-US" sz="1200"/>
          </a:p>
        </p:txBody>
      </p:sp>
      <p:sp>
        <p:nvSpPr>
          <p:cNvPr id="19" name="Text 17"/>
          <p:cNvSpPr txBox="1"/>
          <p:nvPr/>
        </p:nvSpPr>
        <p:spPr>
          <a:xfrm>
            <a:off x="1508760" y="2971800"/>
            <a:ext cx="1188720" cy="45720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$42B</a:t>
            </a:r>
            <a:endParaRPr lang="en-US" sz="1600"/>
          </a:p>
        </p:txBody>
      </p:sp>
      <p:sp>
        <p:nvSpPr>
          <p:cNvPr id="20" name="Text 18"/>
          <p:cNvSpPr txBox="1"/>
          <p:nvPr/>
        </p:nvSpPr>
        <p:spPr>
          <a:xfrm>
            <a:off x="2743200" y="2971800"/>
            <a:ext cx="5943600" cy="457200"/>
          </a:xfrm>
          <a:prstGeom prst="rect">
            <a:avLst/>
          </a:prstGeom>
          <a:noFill/>
          <a:ln/>
        </p:spPr>
        <p:txBody>
          <a:bodyPr wrap="square" lIns="0" tIns="0" rIns="0" bIns="0" rtlCol="0" anchor="ctr"/>
          <a:lstStyle/>
          <a:p>
            <a:pPr marL="0" indent="0">
              <a:buNone/>
            </a:pPr>
            <a:r>
              <a:rPr lang="en-US" sz="950">
                <a:solidFill>
                  <a:srgbClr val="DCDCDC"/>
                </a:solidFill>
                <a:latin typeface="Calibri" pitchFamily="34" charset="0"/>
                <a:ea typeface="Calibri" pitchFamily="34" charset="-122"/>
                <a:cs typeface="Calibri" pitchFamily="34" charset="-120"/>
              </a:rPr>
              <a:t>All enterprise AI software and services, worldwide, 2026</a:t>
            </a:r>
            <a:endParaRPr lang="en-US" sz="950"/>
          </a:p>
        </p:txBody>
      </p:sp>
      <p:sp>
        <p:nvSpPr>
          <p:cNvPr id="21" name="Shape 19"/>
          <p:cNvSpPr/>
          <p:nvPr/>
        </p:nvSpPr>
        <p:spPr>
          <a:xfrm>
            <a:off x="457200" y="3520440"/>
            <a:ext cx="914400" cy="457200"/>
          </a:xfrm>
          <a:prstGeom prst="roundRect">
            <a:avLst>
              <a:gd name="adj" fmla="val 12000"/>
            </a:avLst>
          </a:prstGeom>
          <a:solidFill>
            <a:srgbClr val="1C7293"/>
          </a:solidFill>
          <a:ln w="12700">
            <a:solidFill>
              <a:srgbClr val="1C7293"/>
            </a:solidFill>
            <a:prstDash val="solid"/>
          </a:ln>
        </p:spPr>
      </p:sp>
      <p:sp>
        <p:nvSpPr>
          <p:cNvPr id="22" name="Text 20"/>
          <p:cNvSpPr txBox="1"/>
          <p:nvPr/>
        </p:nvSpPr>
        <p:spPr>
          <a:xfrm>
            <a:off x="457200" y="3520440"/>
            <a:ext cx="914400" cy="4572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SAM</a:t>
            </a:r>
            <a:endParaRPr lang="en-US" sz="1200"/>
          </a:p>
        </p:txBody>
      </p:sp>
      <p:sp>
        <p:nvSpPr>
          <p:cNvPr id="23" name="Text 21"/>
          <p:cNvSpPr txBox="1"/>
          <p:nvPr/>
        </p:nvSpPr>
        <p:spPr>
          <a:xfrm>
            <a:off x="1508760" y="3520440"/>
            <a:ext cx="1188720" cy="45720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~$3.5B</a:t>
            </a:r>
            <a:endParaRPr lang="en-US" sz="1600"/>
          </a:p>
        </p:txBody>
      </p:sp>
      <p:sp>
        <p:nvSpPr>
          <p:cNvPr id="24" name="Text 22"/>
          <p:cNvSpPr txBox="1"/>
          <p:nvPr/>
        </p:nvSpPr>
        <p:spPr>
          <a:xfrm>
            <a:off x="2743200" y="3520440"/>
            <a:ext cx="5943600" cy="457200"/>
          </a:xfrm>
          <a:prstGeom prst="rect">
            <a:avLst/>
          </a:prstGeom>
          <a:noFill/>
          <a:ln/>
        </p:spPr>
        <p:txBody>
          <a:bodyPr wrap="square" lIns="0" tIns="0" rIns="0" bIns="0" rtlCol="0" anchor="ctr"/>
          <a:lstStyle/>
          <a:p>
            <a:pPr marL="0" indent="0">
              <a:buNone/>
            </a:pPr>
            <a:r>
              <a:rPr lang="en-US" sz="950">
                <a:solidFill>
                  <a:srgbClr val="DCDCDC"/>
                </a:solidFill>
                <a:latin typeface="Calibri" pitchFamily="34" charset="0"/>
                <a:ea typeface="Calibri" pitchFamily="34" charset="-122"/>
                <a:cs typeface="Calibri" pitchFamily="34" charset="-120"/>
              </a:rPr>
              <a:t>European companies that want AI on their own premises or a private cloud (our estimate: ~25% of spend is European, ~1/3 of that is on-premise or hybrid)</a:t>
            </a:r>
            <a:endParaRPr lang="en-US" sz="950"/>
          </a:p>
        </p:txBody>
      </p:sp>
      <p:sp>
        <p:nvSpPr>
          <p:cNvPr id="25" name="Shape 23"/>
          <p:cNvSpPr/>
          <p:nvPr/>
        </p:nvSpPr>
        <p:spPr>
          <a:xfrm>
            <a:off x="457200" y="4069080"/>
            <a:ext cx="914400" cy="457200"/>
          </a:xfrm>
          <a:prstGeom prst="roundRect">
            <a:avLst>
              <a:gd name="adj" fmla="val 12000"/>
            </a:avLst>
          </a:prstGeom>
          <a:solidFill>
            <a:srgbClr val="4682B4"/>
          </a:solidFill>
          <a:ln w="12700">
            <a:solidFill>
              <a:srgbClr val="4682B4"/>
            </a:solidFill>
            <a:prstDash val="solid"/>
          </a:ln>
        </p:spPr>
      </p:sp>
      <p:sp>
        <p:nvSpPr>
          <p:cNvPr id="26" name="Text 24"/>
          <p:cNvSpPr txBox="1"/>
          <p:nvPr/>
        </p:nvSpPr>
        <p:spPr>
          <a:xfrm>
            <a:off x="457200" y="4069080"/>
            <a:ext cx="914400" cy="4572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SOM</a:t>
            </a:r>
            <a:endParaRPr lang="en-US" sz="1200"/>
          </a:p>
        </p:txBody>
      </p:sp>
      <p:sp>
        <p:nvSpPr>
          <p:cNvPr id="27" name="Text 25"/>
          <p:cNvSpPr txBox="1"/>
          <p:nvPr/>
        </p:nvSpPr>
        <p:spPr>
          <a:xfrm>
            <a:off x="1508760" y="4069080"/>
            <a:ext cx="1188720" cy="45720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€2M ARR</a:t>
            </a:r>
            <a:endParaRPr lang="en-US" sz="1600"/>
          </a:p>
        </p:txBody>
      </p:sp>
      <p:sp>
        <p:nvSpPr>
          <p:cNvPr id="28" name="Text 26"/>
          <p:cNvSpPr txBox="1"/>
          <p:nvPr/>
        </p:nvSpPr>
        <p:spPr>
          <a:xfrm>
            <a:off x="2743200" y="4069080"/>
            <a:ext cx="5943600" cy="457200"/>
          </a:xfrm>
          <a:prstGeom prst="rect">
            <a:avLst/>
          </a:prstGeom>
          <a:noFill/>
          <a:ln/>
        </p:spPr>
        <p:txBody>
          <a:bodyPr wrap="square" lIns="0" tIns="0" rIns="0" bIns="0" rtlCol="0" anchor="ctr"/>
          <a:lstStyle/>
          <a:p>
            <a:pPr marL="0" indent="0">
              <a:buNone/>
            </a:pPr>
            <a:r>
              <a:rPr lang="en-US" sz="950">
                <a:solidFill>
                  <a:srgbClr val="DCDCDC"/>
                </a:solidFill>
                <a:latin typeface="Calibri" pitchFamily="34" charset="0"/>
                <a:ea typeface="Calibri" pitchFamily="34" charset="-122"/>
                <a:cs typeface="Calibri" pitchFamily="34" charset="-120"/>
              </a:rPr>
              <a:t>Target by 2028: 200 mid-size regulated companies in France and neighbours, at about €10k a year each</a:t>
            </a:r>
            <a:endParaRPr lang="en-US" sz="9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How Horus makes money</a:t>
            </a:r>
            <a:endParaRPr lang="en-US" sz="2600"/>
          </a:p>
        </p:txBody>
      </p:sp>
      <p:sp>
        <p:nvSpPr>
          <p:cNvPr id="4" name="Text 2"/>
          <p:cNvSpPr txBox="1"/>
          <p:nvPr/>
        </p:nvSpPr>
        <p:spPr>
          <a:xfrm>
            <a:off x="457200" y="850392"/>
            <a:ext cx="8229600" cy="320040"/>
          </a:xfrm>
          <a:prstGeom prst="rect">
            <a:avLst/>
          </a:prstGeom>
          <a:noFill/>
          <a:ln/>
        </p:spPr>
        <p:txBody>
          <a:bodyPr wrap="square" lIns="0" tIns="0" rIns="0" bIns="0" rtlCol="0" anchor="ctr"/>
          <a:lstStyle/>
          <a:p>
            <a:pPr marL="0" indent="0">
              <a:buNone/>
            </a:pPr>
            <a:r>
              <a:rPr lang="en-US" sz="1200" i="1">
                <a:solidFill>
                  <a:srgbClr val="4682B4"/>
                </a:solidFill>
                <a:latin typeface="Calibri" pitchFamily="34" charset="0"/>
                <a:ea typeface="Calibri" pitchFamily="34" charset="-122"/>
                <a:cs typeface="Calibri" pitchFamily="34" charset="-120"/>
              </a:rPr>
              <a:t>A recurring licence, plus hardware for companies that have none - indicative launch pricing, validated with our first pilots</a:t>
            </a:r>
            <a:endParaRPr lang="en-US" sz="1200"/>
          </a:p>
        </p:txBody>
      </p:sp>
      <p:sp>
        <p:nvSpPr>
          <p:cNvPr id="5" name="Shape 3"/>
          <p:cNvSpPr/>
          <p:nvPr/>
        </p:nvSpPr>
        <p:spPr>
          <a:xfrm>
            <a:off x="457200" y="1417320"/>
            <a:ext cx="4937760" cy="2834640"/>
          </a:xfrm>
          <a:prstGeom prst="roundRect">
            <a:avLst>
              <a:gd name="adj" fmla="val 2581"/>
            </a:avLst>
          </a:prstGeom>
          <a:solidFill>
            <a:srgbClr val="252B3B"/>
          </a:solidFill>
          <a:ln w="9525">
            <a:solidFill>
              <a:srgbClr val="343B4F"/>
            </a:solidFill>
            <a:prstDash val="solid"/>
          </a:ln>
        </p:spPr>
      </p:sp>
      <p:pic>
        <p:nvPicPr>
          <p:cNvPr id="6" name="Image 0" descr="preencoded.png"/>
          <p:cNvPicPr>
            <a:picLocks noChangeAspect="1"/>
          </p:cNvPicPr>
          <p:nvPr/>
        </p:nvPicPr>
        <p:blipFill>
          <a:blip r:embed="rId3"/>
          <a:stretch>
            <a:fillRect/>
          </a:stretch>
        </p:blipFill>
        <p:spPr>
          <a:xfrm>
            <a:off x="640080" y="1554480"/>
            <a:ext cx="365760" cy="365760"/>
          </a:xfrm>
          <a:prstGeom prst="rect">
            <a:avLst/>
          </a:prstGeom>
        </p:spPr>
      </p:pic>
      <p:sp>
        <p:nvSpPr>
          <p:cNvPr id="7" name="Text 4"/>
          <p:cNvSpPr txBox="1"/>
          <p:nvPr/>
        </p:nvSpPr>
        <p:spPr>
          <a:xfrm>
            <a:off x="1097280" y="1554480"/>
            <a:ext cx="4114800" cy="36576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Horus licence - billed per quarter, per site</a:t>
            </a:r>
            <a:endParaRPr lang="en-US" sz="1400"/>
          </a:p>
        </p:txBody>
      </p:sp>
      <p:sp>
        <p:nvSpPr>
          <p:cNvPr id="8" name="Shape 5"/>
          <p:cNvSpPr/>
          <p:nvPr/>
        </p:nvSpPr>
        <p:spPr>
          <a:xfrm>
            <a:off x="640080" y="2103120"/>
            <a:ext cx="4572000" cy="411480"/>
          </a:xfrm>
          <a:prstGeom prst="rect">
            <a:avLst/>
          </a:prstGeom>
          <a:solidFill>
            <a:srgbClr val="2B3244"/>
          </a:solidFill>
          <a:ln w="12700">
            <a:solidFill>
              <a:srgbClr val="2B3244"/>
            </a:solidFill>
            <a:prstDash val="solid"/>
          </a:ln>
        </p:spPr>
      </p:sp>
      <p:sp>
        <p:nvSpPr>
          <p:cNvPr id="9" name="Text 6"/>
          <p:cNvSpPr txBox="1"/>
          <p:nvPr/>
        </p:nvSpPr>
        <p:spPr>
          <a:xfrm>
            <a:off x="777240" y="2103120"/>
            <a:ext cx="1188720" cy="411480"/>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Starter</a:t>
            </a:r>
            <a:endParaRPr lang="en-US" sz="1150"/>
          </a:p>
        </p:txBody>
      </p:sp>
      <p:sp>
        <p:nvSpPr>
          <p:cNvPr id="10" name="Text 7"/>
          <p:cNvSpPr txBox="1"/>
          <p:nvPr/>
        </p:nvSpPr>
        <p:spPr>
          <a:xfrm>
            <a:off x="2011680" y="2103120"/>
            <a:ext cx="1737360" cy="411480"/>
          </a:xfrm>
          <a:prstGeom prst="rect">
            <a:avLst/>
          </a:prstGeom>
          <a:noFill/>
          <a:ln/>
        </p:spPr>
        <p:txBody>
          <a:bodyPr wrap="square" lIns="0" tIns="0" rIns="0" bIns="0" rtlCol="0" anchor="ctr"/>
          <a:lstStyle/>
          <a:p>
            <a:pPr marL="0" indent="0">
              <a:buNone/>
            </a:pPr>
            <a:r>
              <a:rPr lang="en-US" sz="1050">
                <a:solidFill>
                  <a:srgbClr val="DCDCDC"/>
                </a:solidFill>
                <a:latin typeface="Calibri" pitchFamily="34" charset="0"/>
                <a:ea typeface="Calibri" pitchFamily="34" charset="-122"/>
                <a:cs typeface="Calibri" pitchFamily="34" charset="-120"/>
              </a:rPr>
              <a:t>up to 25 users</a:t>
            </a:r>
            <a:endParaRPr lang="en-US" sz="1050"/>
          </a:p>
        </p:txBody>
      </p:sp>
      <p:sp>
        <p:nvSpPr>
          <p:cNvPr id="11" name="Text 8"/>
          <p:cNvSpPr txBox="1"/>
          <p:nvPr/>
        </p:nvSpPr>
        <p:spPr>
          <a:xfrm>
            <a:off x="3749040" y="2103120"/>
            <a:ext cx="1371600" cy="411480"/>
          </a:xfrm>
          <a:prstGeom prst="rect">
            <a:avLst/>
          </a:prstGeom>
          <a:noFill/>
          <a:ln/>
        </p:spPr>
        <p:txBody>
          <a:bodyPr wrap="square" lIns="0" tIns="0" rIns="0" bIns="0" rtlCol="0" anchor="ctr"/>
          <a:lstStyle/>
          <a:p>
            <a:pPr marL="0" indent="0" algn="r">
              <a:buNone/>
            </a:pPr>
            <a:r>
              <a:rPr lang="en-US" sz="1150" b="1">
                <a:solidFill>
                  <a:srgbClr val="4CAF50"/>
                </a:solidFill>
                <a:latin typeface="Calibri" pitchFamily="34" charset="0"/>
                <a:ea typeface="Calibri" pitchFamily="34" charset="-122"/>
                <a:cs typeface="Calibri" pitchFamily="34" charset="-120"/>
              </a:rPr>
              <a:t>€1,500 / quarter</a:t>
            </a:r>
            <a:endParaRPr lang="en-US" sz="1150"/>
          </a:p>
        </p:txBody>
      </p:sp>
      <p:sp>
        <p:nvSpPr>
          <p:cNvPr id="12" name="Shape 9"/>
          <p:cNvSpPr/>
          <p:nvPr/>
        </p:nvSpPr>
        <p:spPr>
          <a:xfrm>
            <a:off x="640080" y="2560320"/>
            <a:ext cx="4572000" cy="411480"/>
          </a:xfrm>
          <a:prstGeom prst="rect">
            <a:avLst/>
          </a:prstGeom>
          <a:solidFill>
            <a:srgbClr val="252B3B"/>
          </a:solidFill>
          <a:ln w="12700">
            <a:solidFill>
              <a:srgbClr val="2B3244"/>
            </a:solidFill>
            <a:prstDash val="solid"/>
          </a:ln>
        </p:spPr>
      </p:sp>
      <p:sp>
        <p:nvSpPr>
          <p:cNvPr id="13" name="Text 10"/>
          <p:cNvSpPr txBox="1"/>
          <p:nvPr/>
        </p:nvSpPr>
        <p:spPr>
          <a:xfrm>
            <a:off x="777240" y="2560320"/>
            <a:ext cx="1188720" cy="411480"/>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Team</a:t>
            </a:r>
            <a:endParaRPr lang="en-US" sz="1150"/>
          </a:p>
        </p:txBody>
      </p:sp>
      <p:sp>
        <p:nvSpPr>
          <p:cNvPr id="14" name="Text 11"/>
          <p:cNvSpPr txBox="1"/>
          <p:nvPr/>
        </p:nvSpPr>
        <p:spPr>
          <a:xfrm>
            <a:off x="2011680" y="2560320"/>
            <a:ext cx="1737360" cy="411480"/>
          </a:xfrm>
          <a:prstGeom prst="rect">
            <a:avLst/>
          </a:prstGeom>
          <a:noFill/>
          <a:ln/>
        </p:spPr>
        <p:txBody>
          <a:bodyPr wrap="square" lIns="0" tIns="0" rIns="0" bIns="0" rtlCol="0" anchor="ctr"/>
          <a:lstStyle/>
          <a:p>
            <a:pPr marL="0" indent="0">
              <a:buNone/>
            </a:pPr>
            <a:r>
              <a:rPr lang="en-US" sz="1050">
                <a:solidFill>
                  <a:srgbClr val="DCDCDC"/>
                </a:solidFill>
                <a:latin typeface="Calibri" pitchFamily="34" charset="0"/>
                <a:ea typeface="Calibri" pitchFamily="34" charset="-122"/>
                <a:cs typeface="Calibri" pitchFamily="34" charset="-120"/>
              </a:rPr>
              <a:t>up to 100 users</a:t>
            </a:r>
            <a:endParaRPr lang="en-US" sz="1050"/>
          </a:p>
        </p:txBody>
      </p:sp>
      <p:sp>
        <p:nvSpPr>
          <p:cNvPr id="15" name="Text 12"/>
          <p:cNvSpPr txBox="1"/>
          <p:nvPr/>
        </p:nvSpPr>
        <p:spPr>
          <a:xfrm>
            <a:off x="3749040" y="2560320"/>
            <a:ext cx="1371600" cy="411480"/>
          </a:xfrm>
          <a:prstGeom prst="rect">
            <a:avLst/>
          </a:prstGeom>
          <a:noFill/>
          <a:ln/>
        </p:spPr>
        <p:txBody>
          <a:bodyPr wrap="square" lIns="0" tIns="0" rIns="0" bIns="0" rtlCol="0" anchor="ctr"/>
          <a:lstStyle/>
          <a:p>
            <a:pPr marL="0" indent="0" algn="r">
              <a:buNone/>
            </a:pPr>
            <a:r>
              <a:rPr lang="en-US" sz="1150" b="1">
                <a:solidFill>
                  <a:srgbClr val="4CAF50"/>
                </a:solidFill>
                <a:latin typeface="Calibri" pitchFamily="34" charset="0"/>
                <a:ea typeface="Calibri" pitchFamily="34" charset="-122"/>
                <a:cs typeface="Calibri" pitchFamily="34" charset="-120"/>
              </a:rPr>
              <a:t>€4,500 / quarter</a:t>
            </a:r>
            <a:endParaRPr lang="en-US" sz="1150"/>
          </a:p>
        </p:txBody>
      </p:sp>
      <p:sp>
        <p:nvSpPr>
          <p:cNvPr id="16" name="Shape 13"/>
          <p:cNvSpPr/>
          <p:nvPr/>
        </p:nvSpPr>
        <p:spPr>
          <a:xfrm>
            <a:off x="640080" y="3017520"/>
            <a:ext cx="4572000" cy="411480"/>
          </a:xfrm>
          <a:prstGeom prst="rect">
            <a:avLst/>
          </a:prstGeom>
          <a:solidFill>
            <a:srgbClr val="2B3244"/>
          </a:solidFill>
          <a:ln w="12700">
            <a:solidFill>
              <a:srgbClr val="2B3244"/>
            </a:solidFill>
            <a:prstDash val="solid"/>
          </a:ln>
        </p:spPr>
      </p:sp>
      <p:sp>
        <p:nvSpPr>
          <p:cNvPr id="17" name="Text 14"/>
          <p:cNvSpPr txBox="1"/>
          <p:nvPr/>
        </p:nvSpPr>
        <p:spPr>
          <a:xfrm>
            <a:off x="777240" y="3017520"/>
            <a:ext cx="1188720" cy="411480"/>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Enterprise</a:t>
            </a:r>
            <a:endParaRPr lang="en-US" sz="1150"/>
          </a:p>
        </p:txBody>
      </p:sp>
      <p:sp>
        <p:nvSpPr>
          <p:cNvPr id="18" name="Text 15"/>
          <p:cNvSpPr txBox="1"/>
          <p:nvPr/>
        </p:nvSpPr>
        <p:spPr>
          <a:xfrm>
            <a:off x="2011680" y="3017520"/>
            <a:ext cx="1737360" cy="411480"/>
          </a:xfrm>
          <a:prstGeom prst="rect">
            <a:avLst/>
          </a:prstGeom>
          <a:noFill/>
          <a:ln/>
        </p:spPr>
        <p:txBody>
          <a:bodyPr wrap="square" lIns="0" tIns="0" rIns="0" bIns="0" rtlCol="0" anchor="ctr"/>
          <a:lstStyle/>
          <a:p>
            <a:pPr marL="0" indent="0">
              <a:buNone/>
            </a:pPr>
            <a:r>
              <a:rPr lang="en-US" sz="1050">
                <a:solidFill>
                  <a:srgbClr val="DCDCDC"/>
                </a:solidFill>
                <a:latin typeface="Calibri" pitchFamily="34" charset="0"/>
                <a:ea typeface="Calibri" pitchFamily="34" charset="-122"/>
                <a:cs typeface="Calibri" pitchFamily="34" charset="-120"/>
              </a:rPr>
              <a:t>unlimited, several sites</a:t>
            </a:r>
            <a:endParaRPr lang="en-US" sz="1050"/>
          </a:p>
        </p:txBody>
      </p:sp>
      <p:sp>
        <p:nvSpPr>
          <p:cNvPr id="19" name="Text 16"/>
          <p:cNvSpPr txBox="1"/>
          <p:nvPr/>
        </p:nvSpPr>
        <p:spPr>
          <a:xfrm>
            <a:off x="3749040" y="3017520"/>
            <a:ext cx="1371600" cy="411480"/>
          </a:xfrm>
          <a:prstGeom prst="rect">
            <a:avLst/>
          </a:prstGeom>
          <a:noFill/>
          <a:ln/>
        </p:spPr>
        <p:txBody>
          <a:bodyPr wrap="square" lIns="0" tIns="0" rIns="0" bIns="0" rtlCol="0" anchor="ctr"/>
          <a:lstStyle/>
          <a:p>
            <a:pPr marL="0" indent="0" algn="r">
              <a:buNone/>
            </a:pPr>
            <a:r>
              <a:rPr lang="en-US" sz="1150" b="1">
                <a:solidFill>
                  <a:srgbClr val="4CAF50"/>
                </a:solidFill>
                <a:latin typeface="Calibri" pitchFamily="34" charset="0"/>
                <a:ea typeface="Calibri" pitchFamily="34" charset="-122"/>
                <a:cs typeface="Calibri" pitchFamily="34" charset="-120"/>
              </a:rPr>
              <a:t>on quote</a:t>
            </a:r>
            <a:endParaRPr lang="en-US" sz="1150"/>
          </a:p>
        </p:txBody>
      </p:sp>
      <p:sp>
        <p:nvSpPr>
          <p:cNvPr id="20" name="Text 17"/>
          <p:cNvSpPr txBox="1"/>
          <p:nvPr/>
        </p:nvSpPr>
        <p:spPr>
          <a:xfrm>
            <a:off x="640080" y="3520440"/>
            <a:ext cx="4572000" cy="868680"/>
          </a:xfrm>
          <a:prstGeom prst="rect">
            <a:avLst/>
          </a:prstGeom>
          <a:noFill/>
          <a:ln/>
        </p:spPr>
        <p:txBody>
          <a:bodyPr wrap="square" lIns="0" tIns="0" rIns="0" bIns="0" rtlCol="0" anchor="t"/>
          <a:lstStyle/>
          <a:p>
            <a:pPr marL="0" indent="0">
              <a:buNone/>
            </a:pPr>
            <a:r>
              <a:rPr lang="en-US" sz="950">
                <a:solidFill>
                  <a:srgbClr val="DCDCDC"/>
                </a:solidFill>
                <a:latin typeface="Calibri" pitchFamily="34" charset="0"/>
                <a:ea typeface="Calibri" pitchFamily="34" charset="-122"/>
                <a:cs typeface="Calibri" pitchFamily="34" charset="-120"/>
              </a:rPr>
              <a:t>Includes updates, support and the desktop app. </a:t>
            </a:r>
            <a:r>
              <a:rPr lang="en-US" sz="950" i="1">
                <a:solidFill>
                  <a:srgbClr val="9AA3B5"/>
                </a:solidFill>
                <a:latin typeface="Calibri" pitchFamily="34" charset="0"/>
                <a:ea typeface="Calibri" pitchFamily="34" charset="-122"/>
                <a:cs typeface="Calibri" pitchFamily="34" charset="-120"/>
              </a:rPr>
              <a:t>For comparison: Microsoft 365 Copilot is $30 per user per month - about $9,000 a year for 25 people, with the data in Microsoft's cloud.</a:t>
            </a:r>
            <a:endParaRPr lang="en-US" sz="950"/>
          </a:p>
        </p:txBody>
      </p:sp>
      <p:sp>
        <p:nvSpPr>
          <p:cNvPr id="21" name="Shape 18"/>
          <p:cNvSpPr/>
          <p:nvPr/>
        </p:nvSpPr>
        <p:spPr>
          <a:xfrm>
            <a:off x="5577840" y="1417320"/>
            <a:ext cx="3108960" cy="2834640"/>
          </a:xfrm>
          <a:prstGeom prst="roundRect">
            <a:avLst>
              <a:gd name="adj" fmla="val 2581"/>
            </a:avLst>
          </a:prstGeom>
          <a:solidFill>
            <a:srgbClr val="252B3B"/>
          </a:solidFill>
          <a:ln w="9525">
            <a:solidFill>
              <a:srgbClr val="343B4F"/>
            </a:solidFill>
            <a:prstDash val="solid"/>
          </a:ln>
        </p:spPr>
      </p:sp>
      <p:pic>
        <p:nvPicPr>
          <p:cNvPr id="22" name="Image 1" descr="preencoded.png"/>
          <p:cNvPicPr>
            <a:picLocks noChangeAspect="1"/>
          </p:cNvPicPr>
          <p:nvPr/>
        </p:nvPicPr>
        <p:blipFill>
          <a:blip r:embed="rId4"/>
          <a:stretch>
            <a:fillRect/>
          </a:stretch>
        </p:blipFill>
        <p:spPr>
          <a:xfrm>
            <a:off x="5760720" y="1554480"/>
            <a:ext cx="365760" cy="365760"/>
          </a:xfrm>
          <a:prstGeom prst="rect">
            <a:avLst/>
          </a:prstGeom>
        </p:spPr>
      </p:pic>
      <p:sp>
        <p:nvSpPr>
          <p:cNvPr id="23" name="Text 19"/>
          <p:cNvSpPr txBox="1"/>
          <p:nvPr/>
        </p:nvSpPr>
        <p:spPr>
          <a:xfrm>
            <a:off x="6217920" y="1554480"/>
            <a:ext cx="2377440" cy="36576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No GPU? Rent the AI box</a:t>
            </a:r>
            <a:endParaRPr lang="en-US" sz="1400"/>
          </a:p>
        </p:txBody>
      </p:sp>
      <p:sp>
        <p:nvSpPr>
          <p:cNvPr id="24" name="Text 20"/>
          <p:cNvSpPr txBox="1"/>
          <p:nvPr/>
        </p:nvSpPr>
        <p:spPr>
          <a:xfrm>
            <a:off x="5760720" y="2103120"/>
            <a:ext cx="2743200" cy="457200"/>
          </a:xfrm>
          <a:prstGeom prst="rect">
            <a:avLst/>
          </a:prstGeom>
          <a:noFill/>
          <a:ln/>
        </p:spPr>
        <p:txBody>
          <a:bodyPr wrap="square" lIns="0" tIns="0" rIns="0" bIns="0" rtlCol="0" anchor="ctr"/>
          <a:lstStyle/>
          <a:p>
            <a:pPr marL="0" indent="0">
              <a:buNone/>
            </a:pPr>
            <a:r>
              <a:rPr lang="en-US" sz="2400" b="1">
                <a:solidFill>
                  <a:srgbClr val="4CAF50"/>
                </a:solidFill>
                <a:latin typeface="Calibri" pitchFamily="34" charset="0"/>
                <a:ea typeface="Calibri" pitchFamily="34" charset="-122"/>
                <a:cs typeface="Calibri" pitchFamily="34" charset="-120"/>
              </a:rPr>
              <a:t>€300 / month</a:t>
            </a:r>
            <a:endParaRPr lang="en-US" sz="2400"/>
          </a:p>
        </p:txBody>
      </p:sp>
      <p:sp>
        <p:nvSpPr>
          <p:cNvPr id="25" name="Text 21"/>
          <p:cNvSpPr txBox="1"/>
          <p:nvPr/>
        </p:nvSpPr>
        <p:spPr>
          <a:xfrm>
            <a:off x="5760720" y="2606040"/>
            <a:ext cx="2743200" cy="1783080"/>
          </a:xfrm>
          <a:prstGeom prst="rect">
            <a:avLst/>
          </a:prstGeom>
          <a:noFill/>
          <a:ln/>
        </p:spPr>
        <p:txBody>
          <a:bodyPr wrap="square" lIns="0" tIns="0" rIns="0" bIns="0" rtlCol="0" anchor="t"/>
          <a:lstStyle/>
          <a:p>
            <a:pPr marL="0" indent="0">
              <a:spcAft>
                <a:spcPts val="500"/>
              </a:spcAft>
              <a:buNone/>
            </a:pPr>
            <a:r>
              <a:rPr lang="en-US" sz="950">
                <a:solidFill>
                  <a:srgbClr val="DCDCDC"/>
                </a:solidFill>
                <a:latin typeface="Calibri" pitchFamily="34" charset="0"/>
                <a:ea typeface="Calibri" pitchFamily="34" charset="-122"/>
                <a:cs typeface="Calibri" pitchFamily="34" charset="-120"/>
              </a:rPr>
              <a:t>A desk-sized AI computer (NVIDIA DGX Spark class) that plugs into the company network and runs the models locally.</a:t>
            </a:r>
            <a:endParaRPr lang="en-US" sz="950"/>
          </a:p>
          <a:p>
            <a:pPr marL="0" indent="0">
              <a:spcAft>
                <a:spcPts val="500"/>
              </a:spcAft>
              <a:buNone/>
            </a:pPr>
            <a:r>
              <a:rPr lang="en-US" sz="950">
                <a:solidFill>
                  <a:srgbClr val="DCDCDC"/>
                </a:solidFill>
                <a:latin typeface="Calibri" pitchFamily="34" charset="0"/>
                <a:ea typeface="Calibri" pitchFamily="34" charset="-122"/>
                <a:cs typeface="Calibri" pitchFamily="34" charset="-120"/>
              </a:rPr>
              <a:t>Set-up, replacement and upgrades included. Most of our target companies have no GPU today - this removes the biggest reason to say no.</a:t>
            </a:r>
            <a:endParaRPr lang="en-US" sz="950"/>
          </a:p>
          <a:p>
            <a:pPr marL="0" indent="0">
              <a:spcAft>
                <a:spcPts val="500"/>
              </a:spcAft>
              <a:buNone/>
            </a:pPr>
            <a:r>
              <a:rPr lang="en-US" sz="950" i="1">
                <a:solidFill>
                  <a:srgbClr val="9AA3B5"/>
                </a:solidFill>
                <a:latin typeface="Calibri" pitchFamily="34" charset="0"/>
                <a:ea typeface="Calibri" pitchFamily="34" charset="-122"/>
                <a:cs typeface="Calibri" pitchFamily="34" charset="-120"/>
              </a:rPr>
              <a:t>Box costs us about €4,300; pays back in 14 months.</a:t>
            </a:r>
            <a:endParaRPr lang="en-US" sz="9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Where Horus sits</a:t>
            </a:r>
            <a:endParaRPr lang="en-US" sz="2600"/>
          </a:p>
        </p:txBody>
      </p:sp>
      <p:sp>
        <p:nvSpPr>
          <p:cNvPr id="4" name="Text 2"/>
          <p:cNvSpPr txBox="1"/>
          <p:nvPr/>
        </p:nvSpPr>
        <p:spPr>
          <a:xfrm>
            <a:off x="457200" y="850392"/>
            <a:ext cx="8229600" cy="320040"/>
          </a:xfrm>
          <a:prstGeom prst="rect">
            <a:avLst/>
          </a:prstGeom>
          <a:noFill/>
          <a:ln/>
        </p:spPr>
        <p:txBody>
          <a:bodyPr wrap="square" lIns="0" tIns="0" rIns="0" bIns="0" rtlCol="0" anchor="ctr"/>
          <a:lstStyle/>
          <a:p>
            <a:pPr marL="0" indent="0">
              <a:buNone/>
            </a:pPr>
            <a:r>
              <a:rPr lang="en-US" sz="1200" i="1">
                <a:solidFill>
                  <a:srgbClr val="4682B4"/>
                </a:solidFill>
                <a:latin typeface="Calibri" pitchFamily="34" charset="0"/>
                <a:ea typeface="Calibri" pitchFamily="34" charset="-122"/>
                <a:cs typeface="Calibri" pitchFamily="34" charset="-120"/>
              </a:rPr>
              <a:t>Cloud AI is easy but your data leaves. Open frameworks keep it home but you build everything yourself.</a:t>
            </a:r>
            <a:endParaRPr lang="en-US" sz="1200"/>
          </a:p>
        </p:txBody>
      </p:sp>
      <p:sp>
        <p:nvSpPr>
          <p:cNvPr id="5" name="Shape 3"/>
          <p:cNvSpPr/>
          <p:nvPr/>
        </p:nvSpPr>
        <p:spPr>
          <a:xfrm>
            <a:off x="457200" y="1371600"/>
            <a:ext cx="2651760" cy="548640"/>
          </a:xfrm>
          <a:prstGeom prst="rect">
            <a:avLst/>
          </a:prstGeom>
          <a:solidFill>
            <a:srgbClr val="1C7293"/>
          </a:solidFill>
          <a:ln w="12700">
            <a:solidFill>
              <a:srgbClr val="1E2333"/>
            </a:solidFill>
            <a:prstDash val="solid"/>
          </a:ln>
        </p:spPr>
      </p:sp>
      <p:sp>
        <p:nvSpPr>
          <p:cNvPr id="6" name="Text 4"/>
          <p:cNvSpPr txBox="1"/>
          <p:nvPr/>
        </p:nvSpPr>
        <p:spPr>
          <a:xfrm>
            <a:off x="457200" y="1371600"/>
            <a:ext cx="2651760" cy="548640"/>
          </a:xfrm>
          <a:prstGeom prst="rect">
            <a:avLst/>
          </a:prstGeom>
          <a:noFill/>
          <a:ln/>
        </p:spPr>
        <p:txBody>
          <a:bodyPr wrap="square" lIns="381" tIns="381" rIns="381" bIns="381" rtlCol="0" anchor="ctr"/>
          <a:lstStyle/>
          <a:p>
            <a:pPr marL="0" indent="0" algn="ctr">
              <a:buNone/>
            </a:pPr>
            <a:endParaRPr lang="en-US" sz="950"/>
          </a:p>
        </p:txBody>
      </p:sp>
      <p:sp>
        <p:nvSpPr>
          <p:cNvPr id="7" name="Shape 5"/>
          <p:cNvSpPr/>
          <p:nvPr/>
        </p:nvSpPr>
        <p:spPr>
          <a:xfrm>
            <a:off x="3108960" y="1371600"/>
            <a:ext cx="1874520" cy="548640"/>
          </a:xfrm>
          <a:prstGeom prst="rect">
            <a:avLst/>
          </a:prstGeom>
          <a:solidFill>
            <a:srgbClr val="1C7293"/>
          </a:solidFill>
          <a:ln w="12700">
            <a:solidFill>
              <a:srgbClr val="1E2333"/>
            </a:solidFill>
            <a:prstDash val="solid"/>
          </a:ln>
        </p:spPr>
      </p:sp>
      <p:sp>
        <p:nvSpPr>
          <p:cNvPr id="8" name="Text 6"/>
          <p:cNvSpPr txBox="1"/>
          <p:nvPr/>
        </p:nvSpPr>
        <p:spPr>
          <a:xfrm>
            <a:off x="3108960" y="1371600"/>
            <a:ext cx="1874520" cy="548640"/>
          </a:xfrm>
          <a:prstGeom prst="rect">
            <a:avLst/>
          </a:prstGeom>
          <a:noFill/>
          <a:ln/>
        </p:spPr>
        <p:txBody>
          <a:bodyPr wrap="square" lIns="381" tIns="381" rIns="381" bIns="381"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Cloud AI</a:t>
            </a:r>
            <a:endParaRPr lang="en-US" sz="950"/>
          </a:p>
          <a:p>
            <a:pPr marL="0" indent="0" algn="ctr">
              <a:buNone/>
            </a:pPr>
            <a:r>
              <a:rPr lang="en-US" sz="950" b="1">
                <a:solidFill>
                  <a:srgbClr val="FFFFFF"/>
                </a:solidFill>
                <a:latin typeface="Calibri" pitchFamily="34" charset="0"/>
                <a:ea typeface="Calibri" pitchFamily="34" charset="-122"/>
                <a:cs typeface="Calibri" pitchFamily="34" charset="-120"/>
              </a:rPr>
              <a:t>ChatGPT Enterprise · Copilot · Bedrock</a:t>
            </a:r>
            <a:endParaRPr lang="en-US" sz="950"/>
          </a:p>
        </p:txBody>
      </p:sp>
      <p:sp>
        <p:nvSpPr>
          <p:cNvPr id="9" name="Shape 7"/>
          <p:cNvSpPr/>
          <p:nvPr/>
        </p:nvSpPr>
        <p:spPr>
          <a:xfrm>
            <a:off x="4983480" y="1371600"/>
            <a:ext cx="1874520" cy="548640"/>
          </a:xfrm>
          <a:prstGeom prst="rect">
            <a:avLst/>
          </a:prstGeom>
          <a:solidFill>
            <a:srgbClr val="1C7293"/>
          </a:solidFill>
          <a:ln w="12700">
            <a:solidFill>
              <a:srgbClr val="1E2333"/>
            </a:solidFill>
            <a:prstDash val="solid"/>
          </a:ln>
        </p:spPr>
      </p:sp>
      <p:sp>
        <p:nvSpPr>
          <p:cNvPr id="10" name="Text 8"/>
          <p:cNvSpPr txBox="1"/>
          <p:nvPr/>
        </p:nvSpPr>
        <p:spPr>
          <a:xfrm>
            <a:off x="4983480" y="1371600"/>
            <a:ext cx="1874520" cy="548640"/>
          </a:xfrm>
          <a:prstGeom prst="rect">
            <a:avLst/>
          </a:prstGeom>
          <a:noFill/>
          <a:ln/>
        </p:spPr>
        <p:txBody>
          <a:bodyPr wrap="square" lIns="381" tIns="381" rIns="381" bIns="381"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Open frameworks</a:t>
            </a:r>
            <a:endParaRPr lang="en-US" sz="950"/>
          </a:p>
          <a:p>
            <a:pPr marL="0" indent="0" algn="ctr">
              <a:buNone/>
            </a:pPr>
            <a:r>
              <a:rPr lang="en-US" sz="950" b="1">
                <a:solidFill>
                  <a:srgbClr val="FFFFFF"/>
                </a:solidFill>
                <a:latin typeface="Calibri" pitchFamily="34" charset="0"/>
                <a:ea typeface="Calibri" pitchFamily="34" charset="-122"/>
                <a:cs typeface="Calibri" pitchFamily="34" charset="-120"/>
              </a:rPr>
              <a:t>LangChain · CrewAI · MetaGPT</a:t>
            </a:r>
            <a:endParaRPr lang="en-US" sz="950"/>
          </a:p>
        </p:txBody>
      </p:sp>
      <p:sp>
        <p:nvSpPr>
          <p:cNvPr id="11" name="Shape 9"/>
          <p:cNvSpPr/>
          <p:nvPr/>
        </p:nvSpPr>
        <p:spPr>
          <a:xfrm>
            <a:off x="6858000" y="1371600"/>
            <a:ext cx="1828800" cy="548640"/>
          </a:xfrm>
          <a:prstGeom prst="rect">
            <a:avLst/>
          </a:prstGeom>
          <a:solidFill>
            <a:srgbClr val="4682B4"/>
          </a:solidFill>
          <a:ln w="12700">
            <a:solidFill>
              <a:srgbClr val="1E2333"/>
            </a:solidFill>
            <a:prstDash val="solid"/>
          </a:ln>
        </p:spPr>
      </p:sp>
      <p:sp>
        <p:nvSpPr>
          <p:cNvPr id="12" name="Text 10"/>
          <p:cNvSpPr txBox="1"/>
          <p:nvPr/>
        </p:nvSpPr>
        <p:spPr>
          <a:xfrm>
            <a:off x="6858000" y="1371600"/>
            <a:ext cx="1828800" cy="548640"/>
          </a:xfrm>
          <a:prstGeom prst="rect">
            <a:avLst/>
          </a:prstGeom>
          <a:noFill/>
          <a:ln/>
        </p:spPr>
        <p:txBody>
          <a:bodyPr wrap="square" lIns="381" tIns="381" rIns="381" bIns="381"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Horus</a:t>
            </a:r>
            <a:endParaRPr lang="en-US" sz="1300"/>
          </a:p>
        </p:txBody>
      </p:sp>
      <p:sp>
        <p:nvSpPr>
          <p:cNvPr id="13" name="Shape 11"/>
          <p:cNvSpPr/>
          <p:nvPr/>
        </p:nvSpPr>
        <p:spPr>
          <a:xfrm>
            <a:off x="457200" y="1920240"/>
            <a:ext cx="2651760" cy="457200"/>
          </a:xfrm>
          <a:prstGeom prst="rect">
            <a:avLst/>
          </a:prstGeom>
          <a:solidFill>
            <a:srgbClr val="2B3244"/>
          </a:solidFill>
          <a:ln w="12700">
            <a:solidFill>
              <a:srgbClr val="1E2333"/>
            </a:solidFill>
            <a:prstDash val="solid"/>
          </a:ln>
        </p:spPr>
      </p:sp>
      <p:sp>
        <p:nvSpPr>
          <p:cNvPr id="14" name="Text 12"/>
          <p:cNvSpPr txBox="1"/>
          <p:nvPr/>
        </p:nvSpPr>
        <p:spPr>
          <a:xfrm>
            <a:off x="457200" y="1920240"/>
            <a:ext cx="2651760" cy="457200"/>
          </a:xfrm>
          <a:prstGeom prst="rect">
            <a:avLst/>
          </a:prstGeom>
          <a:noFill/>
          <a:ln/>
        </p:spPr>
        <p:txBody>
          <a:bodyPr wrap="square" lIns="1524" tIns="1524" rIns="1524" bIns="1524" rtlCol="0" anchor="ctr"/>
          <a:lstStyle/>
          <a:p>
            <a:pPr marL="0" indent="0" algn="l">
              <a:buNone/>
            </a:pPr>
            <a:r>
              <a:rPr lang="en-US" sz="1100">
                <a:solidFill>
                  <a:srgbClr val="DCDCDC"/>
                </a:solidFill>
                <a:latin typeface="Calibri" pitchFamily="34" charset="0"/>
                <a:ea typeface="Calibri" pitchFamily="34" charset="-122"/>
                <a:cs typeface="Calibri" pitchFamily="34" charset="-120"/>
              </a:rPr>
              <a:t>Your data stays on your premises</a:t>
            </a:r>
            <a:endParaRPr lang="en-US" sz="1100"/>
          </a:p>
        </p:txBody>
      </p:sp>
      <p:sp>
        <p:nvSpPr>
          <p:cNvPr id="15" name="Shape 13"/>
          <p:cNvSpPr/>
          <p:nvPr/>
        </p:nvSpPr>
        <p:spPr>
          <a:xfrm>
            <a:off x="3108960" y="1920240"/>
            <a:ext cx="1874520" cy="457200"/>
          </a:xfrm>
          <a:prstGeom prst="rect">
            <a:avLst/>
          </a:prstGeom>
          <a:solidFill>
            <a:srgbClr val="2B3244"/>
          </a:solidFill>
          <a:ln w="12700">
            <a:solidFill>
              <a:srgbClr val="1E2333"/>
            </a:solidFill>
            <a:prstDash val="solid"/>
          </a:ln>
        </p:spPr>
      </p:sp>
      <p:sp>
        <p:nvSpPr>
          <p:cNvPr id="16" name="Text 14"/>
          <p:cNvSpPr txBox="1"/>
          <p:nvPr/>
        </p:nvSpPr>
        <p:spPr>
          <a:xfrm>
            <a:off x="3108960" y="1920240"/>
            <a:ext cx="1874520" cy="457200"/>
          </a:xfrm>
          <a:prstGeom prst="rect">
            <a:avLst/>
          </a:prstGeom>
          <a:noFill/>
          <a:ln/>
        </p:spPr>
        <p:txBody>
          <a:bodyPr wrap="square" lIns="0" tIns="0" rIns="0" bIns="0" rtlCol="0" anchor="ctr"/>
          <a:lstStyle/>
          <a:p>
            <a:pPr marL="0" indent="0" algn="ctr">
              <a:buNone/>
            </a:pPr>
            <a:r>
              <a:rPr lang="en-US" sz="1400" b="1">
                <a:solidFill>
                  <a:srgbClr val="FF7B7B"/>
                </a:solidFill>
                <a:latin typeface="Calibri" pitchFamily="34" charset="0"/>
                <a:ea typeface="Calibri" pitchFamily="34" charset="-122"/>
                <a:cs typeface="Calibri" pitchFamily="34" charset="-120"/>
              </a:rPr>
              <a:t>✘</a:t>
            </a:r>
            <a:endParaRPr lang="en-US" sz="1400"/>
          </a:p>
        </p:txBody>
      </p:sp>
      <p:sp>
        <p:nvSpPr>
          <p:cNvPr id="17" name="Shape 15"/>
          <p:cNvSpPr/>
          <p:nvPr/>
        </p:nvSpPr>
        <p:spPr>
          <a:xfrm>
            <a:off x="4983480" y="1920240"/>
            <a:ext cx="1874520" cy="457200"/>
          </a:xfrm>
          <a:prstGeom prst="rect">
            <a:avLst/>
          </a:prstGeom>
          <a:solidFill>
            <a:srgbClr val="2B3244"/>
          </a:solidFill>
          <a:ln w="12700">
            <a:solidFill>
              <a:srgbClr val="1E2333"/>
            </a:solidFill>
            <a:prstDash val="solid"/>
          </a:ln>
        </p:spPr>
      </p:sp>
      <p:sp>
        <p:nvSpPr>
          <p:cNvPr id="18" name="Text 16"/>
          <p:cNvSpPr txBox="1"/>
          <p:nvPr/>
        </p:nvSpPr>
        <p:spPr>
          <a:xfrm>
            <a:off x="4983480" y="1920240"/>
            <a:ext cx="1874520" cy="457200"/>
          </a:xfrm>
          <a:prstGeom prst="rect">
            <a:avLst/>
          </a:prstGeom>
          <a:noFill/>
          <a:ln/>
        </p:spPr>
        <p:txBody>
          <a:bodyPr wrap="square" lIns="0" tIns="0" rIns="0" bIns="0" rtlCol="0" anchor="ctr"/>
          <a:lstStyle/>
          <a:p>
            <a:pPr marL="0" indent="0" algn="ctr">
              <a:buNone/>
            </a:pPr>
            <a:r>
              <a:rPr lang="en-US" sz="1400" b="1">
                <a:solidFill>
                  <a:srgbClr val="4CAF50"/>
                </a:solidFill>
                <a:latin typeface="Calibri" pitchFamily="34" charset="0"/>
                <a:ea typeface="Calibri" pitchFamily="34" charset="-122"/>
                <a:cs typeface="Calibri" pitchFamily="34" charset="-120"/>
              </a:rPr>
              <a:t>✔</a:t>
            </a:r>
            <a:endParaRPr lang="en-US" sz="1400"/>
          </a:p>
        </p:txBody>
      </p:sp>
      <p:sp>
        <p:nvSpPr>
          <p:cNvPr id="19" name="Shape 17"/>
          <p:cNvSpPr/>
          <p:nvPr/>
        </p:nvSpPr>
        <p:spPr>
          <a:xfrm>
            <a:off x="6858000" y="1920240"/>
            <a:ext cx="1828800" cy="457200"/>
          </a:xfrm>
          <a:prstGeom prst="rect">
            <a:avLst/>
          </a:prstGeom>
          <a:solidFill>
            <a:srgbClr val="2B3244"/>
          </a:solidFill>
          <a:ln w="12700">
            <a:solidFill>
              <a:srgbClr val="1E2333"/>
            </a:solidFill>
            <a:prstDash val="solid"/>
          </a:ln>
        </p:spPr>
      </p:sp>
      <p:sp>
        <p:nvSpPr>
          <p:cNvPr id="20" name="Text 18"/>
          <p:cNvSpPr txBox="1"/>
          <p:nvPr/>
        </p:nvSpPr>
        <p:spPr>
          <a:xfrm>
            <a:off x="6858000" y="1920240"/>
            <a:ext cx="1828800" cy="457200"/>
          </a:xfrm>
          <a:prstGeom prst="rect">
            <a:avLst/>
          </a:prstGeom>
          <a:noFill/>
          <a:ln/>
        </p:spPr>
        <p:txBody>
          <a:bodyPr wrap="square" lIns="0" tIns="0" rIns="0" bIns="0" rtlCol="0" anchor="ctr"/>
          <a:lstStyle/>
          <a:p>
            <a:pPr marL="0" indent="0" algn="ctr">
              <a:buNone/>
            </a:pPr>
            <a:r>
              <a:rPr lang="en-US" sz="1400" b="1">
                <a:solidFill>
                  <a:srgbClr val="4CAF50"/>
                </a:solidFill>
                <a:latin typeface="Calibri" pitchFamily="34" charset="0"/>
                <a:ea typeface="Calibri" pitchFamily="34" charset="-122"/>
                <a:cs typeface="Calibri" pitchFamily="34" charset="-120"/>
              </a:rPr>
              <a:t>✔</a:t>
            </a:r>
            <a:endParaRPr lang="en-US" sz="1400"/>
          </a:p>
        </p:txBody>
      </p:sp>
      <p:sp>
        <p:nvSpPr>
          <p:cNvPr id="21" name="Shape 19"/>
          <p:cNvSpPr/>
          <p:nvPr/>
        </p:nvSpPr>
        <p:spPr>
          <a:xfrm>
            <a:off x="457200" y="2377440"/>
            <a:ext cx="2651760" cy="457200"/>
          </a:xfrm>
          <a:prstGeom prst="rect">
            <a:avLst/>
          </a:prstGeom>
          <a:solidFill>
            <a:srgbClr val="252B3B"/>
          </a:solidFill>
          <a:ln w="12700">
            <a:solidFill>
              <a:srgbClr val="1E2333"/>
            </a:solidFill>
            <a:prstDash val="solid"/>
          </a:ln>
        </p:spPr>
      </p:sp>
      <p:sp>
        <p:nvSpPr>
          <p:cNvPr id="22" name="Text 20"/>
          <p:cNvSpPr txBox="1"/>
          <p:nvPr/>
        </p:nvSpPr>
        <p:spPr>
          <a:xfrm>
            <a:off x="457200" y="2377440"/>
            <a:ext cx="2651760" cy="457200"/>
          </a:xfrm>
          <a:prstGeom prst="rect">
            <a:avLst/>
          </a:prstGeom>
          <a:noFill/>
          <a:ln/>
        </p:spPr>
        <p:txBody>
          <a:bodyPr wrap="square" lIns="1524" tIns="1524" rIns="1524" bIns="1524" rtlCol="0" anchor="ctr"/>
          <a:lstStyle/>
          <a:p>
            <a:pPr marL="0" indent="0" algn="l">
              <a:buNone/>
            </a:pPr>
            <a:r>
              <a:rPr lang="en-US" sz="1100">
                <a:solidFill>
                  <a:srgbClr val="DCDCDC"/>
                </a:solidFill>
                <a:latin typeface="Calibri" pitchFamily="34" charset="0"/>
                <a:ea typeface="Calibri" pitchFamily="34" charset="-122"/>
                <a:cs typeface="Calibri" pitchFamily="34" charset="-120"/>
              </a:rPr>
              <a:t>Ready to use in a day, no developers</a:t>
            </a:r>
            <a:endParaRPr lang="en-US" sz="1100"/>
          </a:p>
        </p:txBody>
      </p:sp>
      <p:sp>
        <p:nvSpPr>
          <p:cNvPr id="23" name="Shape 21"/>
          <p:cNvSpPr/>
          <p:nvPr/>
        </p:nvSpPr>
        <p:spPr>
          <a:xfrm>
            <a:off x="3108960" y="2377440"/>
            <a:ext cx="1874520" cy="457200"/>
          </a:xfrm>
          <a:prstGeom prst="rect">
            <a:avLst/>
          </a:prstGeom>
          <a:solidFill>
            <a:srgbClr val="252B3B"/>
          </a:solidFill>
          <a:ln w="12700">
            <a:solidFill>
              <a:srgbClr val="1E2333"/>
            </a:solidFill>
            <a:prstDash val="solid"/>
          </a:ln>
        </p:spPr>
      </p:sp>
      <p:sp>
        <p:nvSpPr>
          <p:cNvPr id="24" name="Text 22"/>
          <p:cNvSpPr txBox="1"/>
          <p:nvPr/>
        </p:nvSpPr>
        <p:spPr>
          <a:xfrm>
            <a:off x="3108960" y="2377440"/>
            <a:ext cx="1874520" cy="457200"/>
          </a:xfrm>
          <a:prstGeom prst="rect">
            <a:avLst/>
          </a:prstGeom>
          <a:noFill/>
          <a:ln/>
        </p:spPr>
        <p:txBody>
          <a:bodyPr wrap="square" lIns="0" tIns="0" rIns="0" bIns="0" rtlCol="0" anchor="ctr"/>
          <a:lstStyle/>
          <a:p>
            <a:pPr marL="0" indent="0" algn="ctr">
              <a:buNone/>
            </a:pPr>
            <a:r>
              <a:rPr lang="en-US" sz="1400" b="1">
                <a:solidFill>
                  <a:srgbClr val="4CAF50"/>
                </a:solidFill>
                <a:latin typeface="Calibri" pitchFamily="34" charset="0"/>
                <a:ea typeface="Calibri" pitchFamily="34" charset="-122"/>
                <a:cs typeface="Calibri" pitchFamily="34" charset="-120"/>
              </a:rPr>
              <a:t>✔</a:t>
            </a:r>
            <a:endParaRPr lang="en-US" sz="1400"/>
          </a:p>
        </p:txBody>
      </p:sp>
      <p:sp>
        <p:nvSpPr>
          <p:cNvPr id="25" name="Shape 23"/>
          <p:cNvSpPr/>
          <p:nvPr/>
        </p:nvSpPr>
        <p:spPr>
          <a:xfrm>
            <a:off x="4983480" y="2377440"/>
            <a:ext cx="1874520" cy="457200"/>
          </a:xfrm>
          <a:prstGeom prst="rect">
            <a:avLst/>
          </a:prstGeom>
          <a:solidFill>
            <a:srgbClr val="252B3B"/>
          </a:solidFill>
          <a:ln w="12700">
            <a:solidFill>
              <a:srgbClr val="1E2333"/>
            </a:solidFill>
            <a:prstDash val="solid"/>
          </a:ln>
        </p:spPr>
      </p:sp>
      <p:sp>
        <p:nvSpPr>
          <p:cNvPr id="26" name="Text 24"/>
          <p:cNvSpPr txBox="1"/>
          <p:nvPr/>
        </p:nvSpPr>
        <p:spPr>
          <a:xfrm>
            <a:off x="4983480" y="2377440"/>
            <a:ext cx="1874520" cy="457200"/>
          </a:xfrm>
          <a:prstGeom prst="rect">
            <a:avLst/>
          </a:prstGeom>
          <a:noFill/>
          <a:ln/>
        </p:spPr>
        <p:txBody>
          <a:bodyPr wrap="square" lIns="0" tIns="0" rIns="0" bIns="0" rtlCol="0" anchor="ctr"/>
          <a:lstStyle/>
          <a:p>
            <a:pPr marL="0" indent="0" algn="ctr">
              <a:buNone/>
            </a:pPr>
            <a:r>
              <a:rPr lang="en-US" sz="1400" b="1">
                <a:solidFill>
                  <a:srgbClr val="FF7B7B"/>
                </a:solidFill>
                <a:latin typeface="Calibri" pitchFamily="34" charset="0"/>
                <a:ea typeface="Calibri" pitchFamily="34" charset="-122"/>
                <a:cs typeface="Calibri" pitchFamily="34" charset="-120"/>
              </a:rPr>
              <a:t>✘</a:t>
            </a:r>
            <a:endParaRPr lang="en-US" sz="1400"/>
          </a:p>
        </p:txBody>
      </p:sp>
      <p:sp>
        <p:nvSpPr>
          <p:cNvPr id="27" name="Shape 25"/>
          <p:cNvSpPr/>
          <p:nvPr/>
        </p:nvSpPr>
        <p:spPr>
          <a:xfrm>
            <a:off x="6858000" y="2377440"/>
            <a:ext cx="1828800" cy="457200"/>
          </a:xfrm>
          <a:prstGeom prst="rect">
            <a:avLst/>
          </a:prstGeom>
          <a:solidFill>
            <a:srgbClr val="252B3B"/>
          </a:solidFill>
          <a:ln w="12700">
            <a:solidFill>
              <a:srgbClr val="1E2333"/>
            </a:solidFill>
            <a:prstDash val="solid"/>
          </a:ln>
        </p:spPr>
      </p:sp>
      <p:sp>
        <p:nvSpPr>
          <p:cNvPr id="28" name="Text 26"/>
          <p:cNvSpPr txBox="1"/>
          <p:nvPr/>
        </p:nvSpPr>
        <p:spPr>
          <a:xfrm>
            <a:off x="6858000" y="2377440"/>
            <a:ext cx="1828800" cy="457200"/>
          </a:xfrm>
          <a:prstGeom prst="rect">
            <a:avLst/>
          </a:prstGeom>
          <a:noFill/>
          <a:ln/>
        </p:spPr>
        <p:txBody>
          <a:bodyPr wrap="square" lIns="0" tIns="0" rIns="0" bIns="0" rtlCol="0" anchor="ctr"/>
          <a:lstStyle/>
          <a:p>
            <a:pPr marL="0" indent="0" algn="ctr">
              <a:buNone/>
            </a:pPr>
            <a:r>
              <a:rPr lang="en-US" sz="1400" b="1">
                <a:solidFill>
                  <a:srgbClr val="4CAF50"/>
                </a:solidFill>
                <a:latin typeface="Calibri" pitchFamily="34" charset="0"/>
                <a:ea typeface="Calibri" pitchFamily="34" charset="-122"/>
                <a:cs typeface="Calibri" pitchFamily="34" charset="-120"/>
              </a:rPr>
              <a:t>✔</a:t>
            </a:r>
            <a:endParaRPr lang="en-US" sz="1400"/>
          </a:p>
        </p:txBody>
      </p:sp>
      <p:sp>
        <p:nvSpPr>
          <p:cNvPr id="29" name="Shape 27"/>
          <p:cNvSpPr/>
          <p:nvPr/>
        </p:nvSpPr>
        <p:spPr>
          <a:xfrm>
            <a:off x="457200" y="2834640"/>
            <a:ext cx="2651760" cy="457200"/>
          </a:xfrm>
          <a:prstGeom prst="rect">
            <a:avLst/>
          </a:prstGeom>
          <a:solidFill>
            <a:srgbClr val="2B3244"/>
          </a:solidFill>
          <a:ln w="12700">
            <a:solidFill>
              <a:srgbClr val="1E2333"/>
            </a:solidFill>
            <a:prstDash val="solid"/>
          </a:ln>
        </p:spPr>
      </p:sp>
      <p:sp>
        <p:nvSpPr>
          <p:cNvPr id="30" name="Text 28"/>
          <p:cNvSpPr txBox="1"/>
          <p:nvPr/>
        </p:nvSpPr>
        <p:spPr>
          <a:xfrm>
            <a:off x="457200" y="2834640"/>
            <a:ext cx="2651760" cy="457200"/>
          </a:xfrm>
          <a:prstGeom prst="rect">
            <a:avLst/>
          </a:prstGeom>
          <a:noFill/>
          <a:ln/>
        </p:spPr>
        <p:txBody>
          <a:bodyPr wrap="square" lIns="1524" tIns="1524" rIns="1524" bIns="1524" rtlCol="0" anchor="ctr"/>
          <a:lstStyle/>
          <a:p>
            <a:pPr marL="0" indent="0" algn="l">
              <a:buNone/>
            </a:pPr>
            <a:r>
              <a:rPr lang="en-US" sz="1100">
                <a:solidFill>
                  <a:srgbClr val="DCDCDC"/>
                </a:solidFill>
                <a:latin typeface="Calibri" pitchFamily="34" charset="0"/>
                <a:ea typeface="Calibri" pitchFamily="34" charset="-122"/>
                <a:cs typeface="Calibri" pitchFamily="34" charset="-120"/>
              </a:rPr>
              <a:t>Team roles and access control built in</a:t>
            </a:r>
            <a:endParaRPr lang="en-US" sz="1100"/>
          </a:p>
        </p:txBody>
      </p:sp>
      <p:sp>
        <p:nvSpPr>
          <p:cNvPr id="31" name="Shape 29"/>
          <p:cNvSpPr/>
          <p:nvPr/>
        </p:nvSpPr>
        <p:spPr>
          <a:xfrm>
            <a:off x="3108960" y="2834640"/>
            <a:ext cx="1874520" cy="457200"/>
          </a:xfrm>
          <a:prstGeom prst="rect">
            <a:avLst/>
          </a:prstGeom>
          <a:solidFill>
            <a:srgbClr val="2B3244"/>
          </a:solidFill>
          <a:ln w="12700">
            <a:solidFill>
              <a:srgbClr val="1E2333"/>
            </a:solidFill>
            <a:prstDash val="solid"/>
          </a:ln>
        </p:spPr>
      </p:sp>
      <p:sp>
        <p:nvSpPr>
          <p:cNvPr id="32" name="Text 30"/>
          <p:cNvSpPr txBox="1"/>
          <p:nvPr/>
        </p:nvSpPr>
        <p:spPr>
          <a:xfrm>
            <a:off x="3108960" y="2834640"/>
            <a:ext cx="1874520" cy="457200"/>
          </a:xfrm>
          <a:prstGeom prst="rect">
            <a:avLst/>
          </a:prstGeom>
          <a:noFill/>
          <a:ln/>
        </p:spPr>
        <p:txBody>
          <a:bodyPr wrap="square" lIns="0" tIns="0" rIns="0" bIns="0" rtlCol="0" anchor="ctr"/>
          <a:lstStyle/>
          <a:p>
            <a:pPr marL="0" indent="0" algn="ctr">
              <a:buNone/>
            </a:pPr>
            <a:r>
              <a:rPr lang="en-US" sz="1400" b="1">
                <a:solidFill>
                  <a:srgbClr val="4CAF50"/>
                </a:solidFill>
                <a:latin typeface="Calibri" pitchFamily="34" charset="0"/>
                <a:ea typeface="Calibri" pitchFamily="34" charset="-122"/>
                <a:cs typeface="Calibri" pitchFamily="34" charset="-120"/>
              </a:rPr>
              <a:t>✔</a:t>
            </a:r>
            <a:endParaRPr lang="en-US" sz="1400"/>
          </a:p>
        </p:txBody>
      </p:sp>
      <p:sp>
        <p:nvSpPr>
          <p:cNvPr id="33" name="Shape 31"/>
          <p:cNvSpPr/>
          <p:nvPr/>
        </p:nvSpPr>
        <p:spPr>
          <a:xfrm>
            <a:off x="4983480" y="2834640"/>
            <a:ext cx="1874520" cy="457200"/>
          </a:xfrm>
          <a:prstGeom prst="rect">
            <a:avLst/>
          </a:prstGeom>
          <a:solidFill>
            <a:srgbClr val="2B3244"/>
          </a:solidFill>
          <a:ln w="12700">
            <a:solidFill>
              <a:srgbClr val="1E2333"/>
            </a:solidFill>
            <a:prstDash val="solid"/>
          </a:ln>
        </p:spPr>
      </p:sp>
      <p:sp>
        <p:nvSpPr>
          <p:cNvPr id="34" name="Text 32"/>
          <p:cNvSpPr txBox="1"/>
          <p:nvPr/>
        </p:nvSpPr>
        <p:spPr>
          <a:xfrm>
            <a:off x="4983480" y="2834640"/>
            <a:ext cx="1874520" cy="457200"/>
          </a:xfrm>
          <a:prstGeom prst="rect">
            <a:avLst/>
          </a:prstGeom>
          <a:noFill/>
          <a:ln/>
        </p:spPr>
        <p:txBody>
          <a:bodyPr wrap="square" lIns="0" tIns="0" rIns="0" bIns="0" rtlCol="0" anchor="ctr"/>
          <a:lstStyle/>
          <a:p>
            <a:pPr marL="0" indent="0" algn="ctr">
              <a:buNone/>
            </a:pPr>
            <a:r>
              <a:rPr lang="en-US" sz="1400" b="1">
                <a:solidFill>
                  <a:srgbClr val="FF7B7B"/>
                </a:solidFill>
                <a:latin typeface="Calibri" pitchFamily="34" charset="0"/>
                <a:ea typeface="Calibri" pitchFamily="34" charset="-122"/>
                <a:cs typeface="Calibri" pitchFamily="34" charset="-120"/>
              </a:rPr>
              <a:t>✘</a:t>
            </a:r>
            <a:endParaRPr lang="en-US" sz="1400"/>
          </a:p>
        </p:txBody>
      </p:sp>
      <p:sp>
        <p:nvSpPr>
          <p:cNvPr id="35" name="Shape 33"/>
          <p:cNvSpPr/>
          <p:nvPr/>
        </p:nvSpPr>
        <p:spPr>
          <a:xfrm>
            <a:off x="6858000" y="2834640"/>
            <a:ext cx="1828800" cy="457200"/>
          </a:xfrm>
          <a:prstGeom prst="rect">
            <a:avLst/>
          </a:prstGeom>
          <a:solidFill>
            <a:srgbClr val="2B3244"/>
          </a:solidFill>
          <a:ln w="12700">
            <a:solidFill>
              <a:srgbClr val="1E2333"/>
            </a:solidFill>
            <a:prstDash val="solid"/>
          </a:ln>
        </p:spPr>
      </p:sp>
      <p:sp>
        <p:nvSpPr>
          <p:cNvPr id="36" name="Text 34"/>
          <p:cNvSpPr txBox="1"/>
          <p:nvPr/>
        </p:nvSpPr>
        <p:spPr>
          <a:xfrm>
            <a:off x="6858000" y="2834640"/>
            <a:ext cx="1828800" cy="457200"/>
          </a:xfrm>
          <a:prstGeom prst="rect">
            <a:avLst/>
          </a:prstGeom>
          <a:noFill/>
          <a:ln/>
        </p:spPr>
        <p:txBody>
          <a:bodyPr wrap="square" lIns="0" tIns="0" rIns="0" bIns="0" rtlCol="0" anchor="ctr"/>
          <a:lstStyle/>
          <a:p>
            <a:pPr marL="0" indent="0" algn="ctr">
              <a:buNone/>
            </a:pPr>
            <a:r>
              <a:rPr lang="en-US" sz="1400" b="1">
                <a:solidFill>
                  <a:srgbClr val="4CAF50"/>
                </a:solidFill>
                <a:latin typeface="Calibri" pitchFamily="34" charset="0"/>
                <a:ea typeface="Calibri" pitchFamily="34" charset="-122"/>
                <a:cs typeface="Calibri" pitchFamily="34" charset="-120"/>
              </a:rPr>
              <a:t>✔</a:t>
            </a:r>
            <a:endParaRPr lang="en-US" sz="1400"/>
          </a:p>
        </p:txBody>
      </p:sp>
      <p:sp>
        <p:nvSpPr>
          <p:cNvPr id="37" name="Shape 35"/>
          <p:cNvSpPr/>
          <p:nvPr/>
        </p:nvSpPr>
        <p:spPr>
          <a:xfrm>
            <a:off x="457200" y="3291840"/>
            <a:ext cx="2651760" cy="457200"/>
          </a:xfrm>
          <a:prstGeom prst="rect">
            <a:avLst/>
          </a:prstGeom>
          <a:solidFill>
            <a:srgbClr val="252B3B"/>
          </a:solidFill>
          <a:ln w="12700">
            <a:solidFill>
              <a:srgbClr val="1E2333"/>
            </a:solidFill>
            <a:prstDash val="solid"/>
          </a:ln>
        </p:spPr>
      </p:sp>
      <p:sp>
        <p:nvSpPr>
          <p:cNvPr id="38" name="Text 36"/>
          <p:cNvSpPr txBox="1"/>
          <p:nvPr/>
        </p:nvSpPr>
        <p:spPr>
          <a:xfrm>
            <a:off x="457200" y="3291840"/>
            <a:ext cx="2651760" cy="457200"/>
          </a:xfrm>
          <a:prstGeom prst="rect">
            <a:avLst/>
          </a:prstGeom>
          <a:noFill/>
          <a:ln/>
        </p:spPr>
        <p:txBody>
          <a:bodyPr wrap="square" lIns="1524" tIns="1524" rIns="1524" bIns="1524" rtlCol="0" anchor="ctr"/>
          <a:lstStyle/>
          <a:p>
            <a:pPr marL="0" indent="0" algn="l">
              <a:buNone/>
            </a:pPr>
            <a:r>
              <a:rPr lang="en-US" sz="1100">
                <a:solidFill>
                  <a:srgbClr val="DCDCDC"/>
                </a:solidFill>
                <a:latin typeface="Calibri" pitchFamily="34" charset="0"/>
                <a:ea typeface="Calibri" pitchFamily="34" charset="-122"/>
                <a:cs typeface="Calibri" pitchFamily="34" charset="-120"/>
              </a:rPr>
              <a:t>Answers cite your own documents</a:t>
            </a:r>
            <a:endParaRPr lang="en-US" sz="1100"/>
          </a:p>
        </p:txBody>
      </p:sp>
      <p:sp>
        <p:nvSpPr>
          <p:cNvPr id="39" name="Shape 37"/>
          <p:cNvSpPr/>
          <p:nvPr/>
        </p:nvSpPr>
        <p:spPr>
          <a:xfrm>
            <a:off x="3108960" y="3291840"/>
            <a:ext cx="1874520" cy="457200"/>
          </a:xfrm>
          <a:prstGeom prst="rect">
            <a:avLst/>
          </a:prstGeom>
          <a:solidFill>
            <a:srgbClr val="252B3B"/>
          </a:solidFill>
          <a:ln w="12700">
            <a:solidFill>
              <a:srgbClr val="1E2333"/>
            </a:solidFill>
            <a:prstDash val="solid"/>
          </a:ln>
        </p:spPr>
      </p:sp>
      <p:sp>
        <p:nvSpPr>
          <p:cNvPr id="40" name="Text 38"/>
          <p:cNvSpPr txBox="1"/>
          <p:nvPr/>
        </p:nvSpPr>
        <p:spPr>
          <a:xfrm>
            <a:off x="3108960" y="3291840"/>
            <a:ext cx="1874520" cy="457200"/>
          </a:xfrm>
          <a:prstGeom prst="rect">
            <a:avLst/>
          </a:prstGeom>
          <a:noFill/>
          <a:ln/>
        </p:spPr>
        <p:txBody>
          <a:bodyPr wrap="square" lIns="0" tIns="0" rIns="0" bIns="0" rtlCol="0" anchor="ctr"/>
          <a:lstStyle/>
          <a:p>
            <a:pPr marL="0" indent="0" algn="ctr">
              <a:buNone/>
            </a:pPr>
            <a:r>
              <a:rPr lang="en-US" sz="1400" b="1">
                <a:solidFill>
                  <a:srgbClr val="E67E22"/>
                </a:solidFill>
                <a:latin typeface="Calibri" pitchFamily="34" charset="0"/>
                <a:ea typeface="Calibri" pitchFamily="34" charset="-122"/>
                <a:cs typeface="Calibri" pitchFamily="34" charset="-120"/>
              </a:rPr>
              <a:t>partly</a:t>
            </a:r>
            <a:endParaRPr lang="en-US" sz="1400"/>
          </a:p>
        </p:txBody>
      </p:sp>
      <p:sp>
        <p:nvSpPr>
          <p:cNvPr id="41" name="Shape 39"/>
          <p:cNvSpPr/>
          <p:nvPr/>
        </p:nvSpPr>
        <p:spPr>
          <a:xfrm>
            <a:off x="4983480" y="3291840"/>
            <a:ext cx="1874520" cy="457200"/>
          </a:xfrm>
          <a:prstGeom prst="rect">
            <a:avLst/>
          </a:prstGeom>
          <a:solidFill>
            <a:srgbClr val="252B3B"/>
          </a:solidFill>
          <a:ln w="12700">
            <a:solidFill>
              <a:srgbClr val="1E2333"/>
            </a:solidFill>
            <a:prstDash val="solid"/>
          </a:ln>
        </p:spPr>
      </p:sp>
      <p:sp>
        <p:nvSpPr>
          <p:cNvPr id="42" name="Text 40"/>
          <p:cNvSpPr txBox="1"/>
          <p:nvPr/>
        </p:nvSpPr>
        <p:spPr>
          <a:xfrm>
            <a:off x="4983480" y="3291840"/>
            <a:ext cx="1874520" cy="457200"/>
          </a:xfrm>
          <a:prstGeom prst="rect">
            <a:avLst/>
          </a:prstGeom>
          <a:noFill/>
          <a:ln/>
        </p:spPr>
        <p:txBody>
          <a:bodyPr wrap="square" lIns="0" tIns="0" rIns="0" bIns="0" rtlCol="0" anchor="ctr"/>
          <a:lstStyle/>
          <a:p>
            <a:pPr marL="0" indent="0" algn="ctr">
              <a:buNone/>
            </a:pPr>
            <a:r>
              <a:rPr lang="en-US" sz="1400" b="1">
                <a:solidFill>
                  <a:srgbClr val="FF7B7B"/>
                </a:solidFill>
                <a:latin typeface="Calibri" pitchFamily="34" charset="0"/>
                <a:ea typeface="Calibri" pitchFamily="34" charset="-122"/>
                <a:cs typeface="Calibri" pitchFamily="34" charset="-120"/>
              </a:rPr>
              <a:t>✘</a:t>
            </a:r>
            <a:endParaRPr lang="en-US" sz="1400"/>
          </a:p>
        </p:txBody>
      </p:sp>
      <p:sp>
        <p:nvSpPr>
          <p:cNvPr id="43" name="Shape 41"/>
          <p:cNvSpPr/>
          <p:nvPr/>
        </p:nvSpPr>
        <p:spPr>
          <a:xfrm>
            <a:off x="6858000" y="3291840"/>
            <a:ext cx="1828800" cy="457200"/>
          </a:xfrm>
          <a:prstGeom prst="rect">
            <a:avLst/>
          </a:prstGeom>
          <a:solidFill>
            <a:srgbClr val="252B3B"/>
          </a:solidFill>
          <a:ln w="12700">
            <a:solidFill>
              <a:srgbClr val="1E2333"/>
            </a:solidFill>
            <a:prstDash val="solid"/>
          </a:ln>
        </p:spPr>
      </p:sp>
      <p:sp>
        <p:nvSpPr>
          <p:cNvPr id="44" name="Text 42"/>
          <p:cNvSpPr txBox="1"/>
          <p:nvPr/>
        </p:nvSpPr>
        <p:spPr>
          <a:xfrm>
            <a:off x="6858000" y="3291840"/>
            <a:ext cx="1828800" cy="457200"/>
          </a:xfrm>
          <a:prstGeom prst="rect">
            <a:avLst/>
          </a:prstGeom>
          <a:noFill/>
          <a:ln/>
        </p:spPr>
        <p:txBody>
          <a:bodyPr wrap="square" lIns="0" tIns="0" rIns="0" bIns="0" rtlCol="0" anchor="ctr"/>
          <a:lstStyle/>
          <a:p>
            <a:pPr marL="0" indent="0" algn="ctr">
              <a:buNone/>
            </a:pPr>
            <a:r>
              <a:rPr lang="en-US" sz="1400" b="1">
                <a:solidFill>
                  <a:srgbClr val="4CAF50"/>
                </a:solidFill>
                <a:latin typeface="Calibri" pitchFamily="34" charset="0"/>
                <a:ea typeface="Calibri" pitchFamily="34" charset="-122"/>
                <a:cs typeface="Calibri" pitchFamily="34" charset="-120"/>
              </a:rPr>
              <a:t>✔</a:t>
            </a:r>
            <a:endParaRPr lang="en-US" sz="1400"/>
          </a:p>
        </p:txBody>
      </p:sp>
      <p:sp>
        <p:nvSpPr>
          <p:cNvPr id="45" name="Shape 43"/>
          <p:cNvSpPr/>
          <p:nvPr/>
        </p:nvSpPr>
        <p:spPr>
          <a:xfrm>
            <a:off x="457200" y="3749040"/>
            <a:ext cx="2651760" cy="457200"/>
          </a:xfrm>
          <a:prstGeom prst="rect">
            <a:avLst/>
          </a:prstGeom>
          <a:solidFill>
            <a:srgbClr val="2B3244"/>
          </a:solidFill>
          <a:ln w="12700">
            <a:solidFill>
              <a:srgbClr val="1E2333"/>
            </a:solidFill>
            <a:prstDash val="solid"/>
          </a:ln>
        </p:spPr>
      </p:sp>
      <p:sp>
        <p:nvSpPr>
          <p:cNvPr id="46" name="Text 44"/>
          <p:cNvSpPr txBox="1"/>
          <p:nvPr/>
        </p:nvSpPr>
        <p:spPr>
          <a:xfrm>
            <a:off x="457200" y="3749040"/>
            <a:ext cx="2651760" cy="457200"/>
          </a:xfrm>
          <a:prstGeom prst="rect">
            <a:avLst/>
          </a:prstGeom>
          <a:noFill/>
          <a:ln/>
        </p:spPr>
        <p:txBody>
          <a:bodyPr wrap="square" lIns="1524" tIns="1524" rIns="1524" bIns="1524" rtlCol="0" anchor="ctr"/>
          <a:lstStyle/>
          <a:p>
            <a:pPr marL="0" indent="0" algn="l">
              <a:buNone/>
            </a:pPr>
            <a:r>
              <a:rPr lang="en-US" sz="1100">
                <a:solidFill>
                  <a:srgbClr val="DCDCDC"/>
                </a:solidFill>
                <a:latin typeface="Calibri" pitchFamily="34" charset="0"/>
                <a:ea typeface="Calibri" pitchFamily="34" charset="-122"/>
                <a:cs typeface="Calibri" pitchFamily="34" charset="-120"/>
              </a:rPr>
              <a:t>Works fully offline</a:t>
            </a:r>
            <a:endParaRPr lang="en-US" sz="1100"/>
          </a:p>
        </p:txBody>
      </p:sp>
      <p:sp>
        <p:nvSpPr>
          <p:cNvPr id="47" name="Shape 45"/>
          <p:cNvSpPr/>
          <p:nvPr/>
        </p:nvSpPr>
        <p:spPr>
          <a:xfrm>
            <a:off x="3108960" y="3749040"/>
            <a:ext cx="1874520" cy="457200"/>
          </a:xfrm>
          <a:prstGeom prst="rect">
            <a:avLst/>
          </a:prstGeom>
          <a:solidFill>
            <a:srgbClr val="2B3244"/>
          </a:solidFill>
          <a:ln w="12700">
            <a:solidFill>
              <a:srgbClr val="1E2333"/>
            </a:solidFill>
            <a:prstDash val="solid"/>
          </a:ln>
        </p:spPr>
      </p:sp>
      <p:sp>
        <p:nvSpPr>
          <p:cNvPr id="48" name="Text 46"/>
          <p:cNvSpPr txBox="1"/>
          <p:nvPr/>
        </p:nvSpPr>
        <p:spPr>
          <a:xfrm>
            <a:off x="3108960" y="3749040"/>
            <a:ext cx="1874520" cy="457200"/>
          </a:xfrm>
          <a:prstGeom prst="rect">
            <a:avLst/>
          </a:prstGeom>
          <a:noFill/>
          <a:ln/>
        </p:spPr>
        <p:txBody>
          <a:bodyPr wrap="square" lIns="0" tIns="0" rIns="0" bIns="0" rtlCol="0" anchor="ctr"/>
          <a:lstStyle/>
          <a:p>
            <a:pPr marL="0" indent="0" algn="ctr">
              <a:buNone/>
            </a:pPr>
            <a:r>
              <a:rPr lang="en-US" sz="1400" b="1">
                <a:solidFill>
                  <a:srgbClr val="FF7B7B"/>
                </a:solidFill>
                <a:latin typeface="Calibri" pitchFamily="34" charset="0"/>
                <a:ea typeface="Calibri" pitchFamily="34" charset="-122"/>
                <a:cs typeface="Calibri" pitchFamily="34" charset="-120"/>
              </a:rPr>
              <a:t>✘</a:t>
            </a:r>
            <a:endParaRPr lang="en-US" sz="1400"/>
          </a:p>
        </p:txBody>
      </p:sp>
      <p:sp>
        <p:nvSpPr>
          <p:cNvPr id="49" name="Shape 47"/>
          <p:cNvSpPr/>
          <p:nvPr/>
        </p:nvSpPr>
        <p:spPr>
          <a:xfrm>
            <a:off x="4983480" y="3749040"/>
            <a:ext cx="1874520" cy="457200"/>
          </a:xfrm>
          <a:prstGeom prst="rect">
            <a:avLst/>
          </a:prstGeom>
          <a:solidFill>
            <a:srgbClr val="2B3244"/>
          </a:solidFill>
          <a:ln w="12700">
            <a:solidFill>
              <a:srgbClr val="1E2333"/>
            </a:solidFill>
            <a:prstDash val="solid"/>
          </a:ln>
        </p:spPr>
      </p:sp>
      <p:sp>
        <p:nvSpPr>
          <p:cNvPr id="50" name="Text 48"/>
          <p:cNvSpPr txBox="1"/>
          <p:nvPr/>
        </p:nvSpPr>
        <p:spPr>
          <a:xfrm>
            <a:off x="4983480" y="3749040"/>
            <a:ext cx="1874520" cy="457200"/>
          </a:xfrm>
          <a:prstGeom prst="rect">
            <a:avLst/>
          </a:prstGeom>
          <a:noFill/>
          <a:ln/>
        </p:spPr>
        <p:txBody>
          <a:bodyPr wrap="square" lIns="0" tIns="0" rIns="0" bIns="0" rtlCol="0" anchor="ctr"/>
          <a:lstStyle/>
          <a:p>
            <a:pPr marL="0" indent="0" algn="ctr">
              <a:buNone/>
            </a:pPr>
            <a:r>
              <a:rPr lang="en-US" sz="1400" b="1">
                <a:solidFill>
                  <a:srgbClr val="4CAF50"/>
                </a:solidFill>
                <a:latin typeface="Calibri" pitchFamily="34" charset="0"/>
                <a:ea typeface="Calibri" pitchFamily="34" charset="-122"/>
                <a:cs typeface="Calibri" pitchFamily="34" charset="-120"/>
              </a:rPr>
              <a:t>✔</a:t>
            </a:r>
            <a:endParaRPr lang="en-US" sz="1400"/>
          </a:p>
        </p:txBody>
      </p:sp>
      <p:sp>
        <p:nvSpPr>
          <p:cNvPr id="51" name="Shape 49"/>
          <p:cNvSpPr/>
          <p:nvPr/>
        </p:nvSpPr>
        <p:spPr>
          <a:xfrm>
            <a:off x="6858000" y="3749040"/>
            <a:ext cx="1828800" cy="457200"/>
          </a:xfrm>
          <a:prstGeom prst="rect">
            <a:avLst/>
          </a:prstGeom>
          <a:solidFill>
            <a:srgbClr val="2B3244"/>
          </a:solidFill>
          <a:ln w="12700">
            <a:solidFill>
              <a:srgbClr val="1E2333"/>
            </a:solidFill>
            <a:prstDash val="solid"/>
          </a:ln>
        </p:spPr>
      </p:sp>
      <p:sp>
        <p:nvSpPr>
          <p:cNvPr id="52" name="Text 50"/>
          <p:cNvSpPr txBox="1"/>
          <p:nvPr/>
        </p:nvSpPr>
        <p:spPr>
          <a:xfrm>
            <a:off x="6858000" y="3749040"/>
            <a:ext cx="1828800" cy="457200"/>
          </a:xfrm>
          <a:prstGeom prst="rect">
            <a:avLst/>
          </a:prstGeom>
          <a:noFill/>
          <a:ln/>
        </p:spPr>
        <p:txBody>
          <a:bodyPr wrap="square" lIns="0" tIns="0" rIns="0" bIns="0" rtlCol="0" anchor="ctr"/>
          <a:lstStyle/>
          <a:p>
            <a:pPr marL="0" indent="0" algn="ctr">
              <a:buNone/>
            </a:pPr>
            <a:r>
              <a:rPr lang="en-US" sz="1400" b="1">
                <a:solidFill>
                  <a:srgbClr val="4CAF50"/>
                </a:solidFill>
                <a:latin typeface="Calibri" pitchFamily="34" charset="0"/>
                <a:ea typeface="Calibri" pitchFamily="34" charset="-122"/>
                <a:cs typeface="Calibri" pitchFamily="34" charset="-120"/>
              </a:rPr>
              <a:t>✔</a:t>
            </a:r>
            <a:endParaRPr lang="en-US" sz="1400"/>
          </a:p>
        </p:txBody>
      </p:sp>
      <p:sp>
        <p:nvSpPr>
          <p:cNvPr id="53" name="Text 51"/>
          <p:cNvSpPr txBox="1"/>
          <p:nvPr/>
        </p:nvSpPr>
        <p:spPr>
          <a:xfrm>
            <a:off x="457200" y="4297680"/>
            <a:ext cx="8229600" cy="365760"/>
          </a:xfrm>
          <a:prstGeom prst="rect">
            <a:avLst/>
          </a:prstGeom>
          <a:noFill/>
          <a:ln/>
        </p:spPr>
        <p:txBody>
          <a:bodyPr wrap="square" lIns="0" tIns="0" rIns="0" bIns="0" rtlCol="0" anchor="ctr"/>
          <a:lstStyle/>
          <a:p>
            <a:pPr marL="0" indent="0">
              <a:buNone/>
            </a:pPr>
            <a:r>
              <a:rPr lang="en-US" sz="1050" i="1">
                <a:solidFill>
                  <a:srgbClr val="4682B4"/>
                </a:solidFill>
                <a:latin typeface="Calibri" pitchFamily="34" charset="0"/>
                <a:ea typeface="Calibri" pitchFamily="34" charset="-122"/>
                <a:cs typeface="Calibri" pitchFamily="34" charset="-120"/>
              </a:rPr>
              <a:t>Horus is not a better model. It is the product around the model: install, users, documents, sources, all on your hardware.</a:t>
            </a:r>
            <a:endParaRPr lang="en-US" sz="10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Where we are: built, in beta, being tested</a:t>
            </a:r>
            <a:endParaRPr lang="en-US" sz="2600"/>
          </a:p>
        </p:txBody>
      </p:sp>
      <p:sp>
        <p:nvSpPr>
          <p:cNvPr id="4" name="Text 2"/>
          <p:cNvSpPr txBox="1"/>
          <p:nvPr/>
        </p:nvSpPr>
        <p:spPr>
          <a:xfrm>
            <a:off x="457200" y="850392"/>
            <a:ext cx="8229600" cy="320040"/>
          </a:xfrm>
          <a:prstGeom prst="rect">
            <a:avLst/>
          </a:prstGeom>
          <a:noFill/>
          <a:ln/>
        </p:spPr>
        <p:txBody>
          <a:bodyPr wrap="square" lIns="0" tIns="0" rIns="0" bIns="0" rtlCol="0" anchor="ctr"/>
          <a:lstStyle/>
          <a:p>
            <a:pPr marL="0" indent="0">
              <a:buNone/>
            </a:pPr>
            <a:r>
              <a:rPr lang="en-US" sz="1200" i="1">
                <a:solidFill>
                  <a:srgbClr val="4682B4"/>
                </a:solidFill>
                <a:latin typeface="Calibri" pitchFamily="34" charset="0"/>
                <a:ea typeface="Calibri" pitchFamily="34" charset="-122"/>
                <a:cs typeface="Calibri" pitchFamily="34" charset="-120"/>
              </a:rPr>
              <a:t>Proof that it installs and runs on machines we have never touched</a:t>
            </a:r>
            <a:endParaRPr lang="en-US" sz="1200"/>
          </a:p>
        </p:txBody>
      </p:sp>
      <p:sp>
        <p:nvSpPr>
          <p:cNvPr id="5" name="Shape 3"/>
          <p:cNvSpPr/>
          <p:nvPr/>
        </p:nvSpPr>
        <p:spPr>
          <a:xfrm>
            <a:off x="457200" y="1371600"/>
            <a:ext cx="4023360" cy="1097280"/>
          </a:xfrm>
          <a:prstGeom prst="roundRect">
            <a:avLst>
              <a:gd name="adj" fmla="val 6667"/>
            </a:avLst>
          </a:prstGeom>
          <a:solidFill>
            <a:srgbClr val="252B3B"/>
          </a:solidFill>
          <a:ln w="9525">
            <a:solidFill>
              <a:srgbClr val="343B4F"/>
            </a:solidFill>
            <a:prstDash val="solid"/>
          </a:ln>
        </p:spPr>
      </p:sp>
      <p:pic>
        <p:nvPicPr>
          <p:cNvPr id="6" name="Image 0" descr="preencoded.png"/>
          <p:cNvPicPr>
            <a:picLocks noChangeAspect="1"/>
          </p:cNvPicPr>
          <p:nvPr/>
        </p:nvPicPr>
        <p:blipFill>
          <a:blip r:embed="rId3"/>
          <a:stretch>
            <a:fillRect/>
          </a:stretch>
        </p:blipFill>
        <p:spPr>
          <a:xfrm>
            <a:off x="621792" y="1554480"/>
            <a:ext cx="365760" cy="365760"/>
          </a:xfrm>
          <a:prstGeom prst="rect">
            <a:avLst/>
          </a:prstGeom>
        </p:spPr>
      </p:pic>
      <p:sp>
        <p:nvSpPr>
          <p:cNvPr id="7" name="Text 4"/>
          <p:cNvSpPr txBox="1"/>
          <p:nvPr/>
        </p:nvSpPr>
        <p:spPr>
          <a:xfrm>
            <a:off x="1143000" y="1481328"/>
            <a:ext cx="32004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37 test scenarios</a:t>
            </a:r>
            <a:endParaRPr lang="en-US" sz="1400"/>
          </a:p>
        </p:txBody>
      </p:sp>
      <p:sp>
        <p:nvSpPr>
          <p:cNvPr id="8" name="Text 5"/>
          <p:cNvSpPr txBox="1"/>
          <p:nvPr/>
        </p:nvSpPr>
        <p:spPr>
          <a:xfrm>
            <a:off x="1143000" y="1810512"/>
            <a:ext cx="3200400" cy="594360"/>
          </a:xfrm>
          <a:prstGeom prst="rect">
            <a:avLst/>
          </a:prstGeom>
          <a:noFill/>
          <a:ln/>
        </p:spPr>
        <p:txBody>
          <a:bodyPr wrap="square" lIns="0" tIns="0" rIns="0" bIns="0" rtlCol="0" anchor="t"/>
          <a:lstStyle/>
          <a:p>
            <a:pPr marL="0" indent="0">
              <a:buNone/>
            </a:pPr>
            <a:r>
              <a:rPr lang="en-US" sz="1000">
                <a:solidFill>
                  <a:srgbClr val="DCDCDC"/>
                </a:solidFill>
                <a:latin typeface="Calibri" pitchFamily="34" charset="0"/>
                <a:ea typeface="Calibri" pitchFamily="34" charset="-122"/>
                <a:cs typeface="Calibri" pitchFamily="34" charset="-120"/>
              </a:rPr>
              <a:t>A full acceptance test plan, written to Epitech's standard, covering install to admin</a:t>
            </a:r>
            <a:endParaRPr lang="en-US" sz="1000"/>
          </a:p>
        </p:txBody>
      </p:sp>
      <p:sp>
        <p:nvSpPr>
          <p:cNvPr id="9" name="Shape 6"/>
          <p:cNvSpPr/>
          <p:nvPr/>
        </p:nvSpPr>
        <p:spPr>
          <a:xfrm>
            <a:off x="4663440" y="1371600"/>
            <a:ext cx="4023360" cy="1097280"/>
          </a:xfrm>
          <a:prstGeom prst="roundRect">
            <a:avLst>
              <a:gd name="adj" fmla="val 6667"/>
            </a:avLst>
          </a:prstGeom>
          <a:solidFill>
            <a:srgbClr val="252B3B"/>
          </a:solidFill>
          <a:ln w="9525">
            <a:solidFill>
              <a:srgbClr val="343B4F"/>
            </a:solidFill>
            <a:prstDash val="solid"/>
          </a:ln>
        </p:spPr>
      </p:sp>
      <p:pic>
        <p:nvPicPr>
          <p:cNvPr id="10" name="Image 1" descr="preencoded.png"/>
          <p:cNvPicPr>
            <a:picLocks noChangeAspect="1"/>
          </p:cNvPicPr>
          <p:nvPr/>
        </p:nvPicPr>
        <p:blipFill>
          <a:blip r:embed="rId4"/>
          <a:stretch>
            <a:fillRect/>
          </a:stretch>
        </p:blipFill>
        <p:spPr>
          <a:xfrm>
            <a:off x="4828032" y="1554480"/>
            <a:ext cx="365760" cy="365760"/>
          </a:xfrm>
          <a:prstGeom prst="rect">
            <a:avLst/>
          </a:prstGeom>
        </p:spPr>
      </p:pic>
      <p:sp>
        <p:nvSpPr>
          <p:cNvPr id="11" name="Text 7"/>
          <p:cNvSpPr txBox="1"/>
          <p:nvPr/>
        </p:nvSpPr>
        <p:spPr>
          <a:xfrm>
            <a:off x="5349240" y="1481328"/>
            <a:ext cx="32004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One-click install</a:t>
            </a:r>
            <a:endParaRPr lang="en-US" sz="1400"/>
          </a:p>
        </p:txBody>
      </p:sp>
      <p:sp>
        <p:nvSpPr>
          <p:cNvPr id="12" name="Text 8"/>
          <p:cNvSpPr txBox="1"/>
          <p:nvPr/>
        </p:nvSpPr>
        <p:spPr>
          <a:xfrm>
            <a:off x="5349240" y="1810512"/>
            <a:ext cx="3200400" cy="594360"/>
          </a:xfrm>
          <a:prstGeom prst="rect">
            <a:avLst/>
          </a:prstGeom>
          <a:noFill/>
          <a:ln/>
        </p:spPr>
        <p:txBody>
          <a:bodyPr wrap="square" lIns="0" tIns="0" rIns="0" bIns="0" rtlCol="0" anchor="t"/>
          <a:lstStyle/>
          <a:p>
            <a:pPr marL="0" indent="0">
              <a:buNone/>
            </a:pPr>
            <a:r>
              <a:rPr lang="en-US" sz="1000">
                <a:solidFill>
                  <a:srgbClr val="DCDCDC"/>
                </a:solidFill>
                <a:latin typeface="Calibri" pitchFamily="34" charset="0"/>
                <a:ea typeface="Calibri" pitchFamily="34" charset="-122"/>
                <a:cs typeface="Calibri" pitchFamily="34" charset="-120"/>
              </a:rPr>
              <a:t>Tested end to end on clean machines, with and without a GPU. Windows, macOS, Linux</a:t>
            </a:r>
            <a:endParaRPr lang="en-US" sz="1000"/>
          </a:p>
        </p:txBody>
      </p:sp>
      <p:sp>
        <p:nvSpPr>
          <p:cNvPr id="13" name="Shape 9"/>
          <p:cNvSpPr/>
          <p:nvPr/>
        </p:nvSpPr>
        <p:spPr>
          <a:xfrm>
            <a:off x="457200" y="2606040"/>
            <a:ext cx="4023360" cy="1097280"/>
          </a:xfrm>
          <a:prstGeom prst="roundRect">
            <a:avLst>
              <a:gd name="adj" fmla="val 6667"/>
            </a:avLst>
          </a:prstGeom>
          <a:solidFill>
            <a:srgbClr val="252B3B"/>
          </a:solidFill>
          <a:ln w="9525">
            <a:solidFill>
              <a:srgbClr val="343B4F"/>
            </a:solidFill>
            <a:prstDash val="solid"/>
          </a:ln>
        </p:spPr>
      </p:sp>
      <p:pic>
        <p:nvPicPr>
          <p:cNvPr id="14" name="Image 2" descr="preencoded.png"/>
          <p:cNvPicPr>
            <a:picLocks noChangeAspect="1"/>
          </p:cNvPicPr>
          <p:nvPr/>
        </p:nvPicPr>
        <p:blipFill>
          <a:blip r:embed="rId5"/>
          <a:stretch>
            <a:fillRect/>
          </a:stretch>
        </p:blipFill>
        <p:spPr>
          <a:xfrm>
            <a:off x="621792" y="2788920"/>
            <a:ext cx="365760" cy="365760"/>
          </a:xfrm>
          <a:prstGeom prst="rect">
            <a:avLst/>
          </a:prstGeom>
        </p:spPr>
      </p:pic>
      <p:sp>
        <p:nvSpPr>
          <p:cNvPr id="15" name="Text 10"/>
          <p:cNvSpPr txBox="1"/>
          <p:nvPr/>
        </p:nvSpPr>
        <p:spPr>
          <a:xfrm>
            <a:off x="1143000" y="2715768"/>
            <a:ext cx="3200400" cy="320040"/>
          </a:xfrm>
          <a:prstGeom prst="rect">
            <a:avLst/>
          </a:prstGeom>
          <a:noFill/>
          <a:ln/>
        </p:spPr>
        <p:txBody>
          <a:bodyPr wrap="square" lIns="0" tIns="0" rIns="0" bIns="0" rtlCol="0" anchor="ctr"/>
          <a:lstStyle/>
          <a:p>
            <a:r>
              <a:rPr lang="en-US" sz="1400" b="1">
                <a:solidFill>
                  <a:srgbClr val="FFFFFF"/>
                </a:solidFill>
                <a:latin typeface="Calibri"/>
                <a:ea typeface="Calibri"/>
                <a:cs typeface="Calibri"/>
              </a:rPr>
              <a:t>3 tester groups this week</a:t>
            </a:r>
            <a:endParaRPr lang="en-US" sz="1400">
              <a:latin typeface="Calibri"/>
              <a:ea typeface="Calibri"/>
              <a:cs typeface="Calibri"/>
            </a:endParaRPr>
          </a:p>
        </p:txBody>
      </p:sp>
      <p:sp>
        <p:nvSpPr>
          <p:cNvPr id="16" name="Text 11"/>
          <p:cNvSpPr txBox="1"/>
          <p:nvPr/>
        </p:nvSpPr>
        <p:spPr>
          <a:xfrm>
            <a:off x="1143000" y="3044952"/>
            <a:ext cx="3200400" cy="594360"/>
          </a:xfrm>
          <a:prstGeom prst="rect">
            <a:avLst/>
          </a:prstGeom>
          <a:noFill/>
          <a:ln/>
        </p:spPr>
        <p:txBody>
          <a:bodyPr wrap="square" lIns="0" tIns="0" rIns="0" bIns="0" rtlCol="0" anchor="t"/>
          <a:lstStyle/>
          <a:p>
            <a:pPr marL="0" indent="0">
              <a:buNone/>
            </a:pPr>
            <a:r>
              <a:rPr lang="en-US" sz="1000">
                <a:solidFill>
                  <a:srgbClr val="DCDCDC"/>
                </a:solidFill>
                <a:latin typeface="Calibri"/>
                <a:ea typeface="Calibri"/>
                <a:cs typeface="Calibri"/>
              </a:rPr>
              <a:t>Third-year </a:t>
            </a:r>
            <a:r>
              <a:rPr lang="en-US" sz="1000" err="1">
                <a:solidFill>
                  <a:srgbClr val="DCDCDC"/>
                </a:solidFill>
                <a:latin typeface="Calibri"/>
                <a:ea typeface="Calibri"/>
                <a:cs typeface="Calibri"/>
              </a:rPr>
              <a:t>Epitech</a:t>
            </a:r>
            <a:r>
              <a:rPr lang="en-US" sz="1000">
                <a:solidFill>
                  <a:srgbClr val="DCDCDC"/>
                </a:solidFill>
                <a:latin typeface="Calibri"/>
                <a:ea typeface="Calibri"/>
                <a:cs typeface="Calibri"/>
              </a:rPr>
              <a:t> students, 3 to 5 per group, working through the plan.</a:t>
            </a:r>
            <a:endParaRPr lang="en-US" sz="1000">
              <a:latin typeface="Calibri"/>
              <a:ea typeface="Calibri"/>
              <a:cs typeface="Calibri"/>
            </a:endParaRPr>
          </a:p>
        </p:txBody>
      </p:sp>
      <p:sp>
        <p:nvSpPr>
          <p:cNvPr id="17" name="Shape 12"/>
          <p:cNvSpPr/>
          <p:nvPr/>
        </p:nvSpPr>
        <p:spPr>
          <a:xfrm>
            <a:off x="4663440" y="2606040"/>
            <a:ext cx="4023360" cy="1097280"/>
          </a:xfrm>
          <a:prstGeom prst="roundRect">
            <a:avLst>
              <a:gd name="adj" fmla="val 6667"/>
            </a:avLst>
          </a:prstGeom>
          <a:solidFill>
            <a:srgbClr val="252B3B"/>
          </a:solidFill>
          <a:ln w="9525">
            <a:solidFill>
              <a:srgbClr val="343B4F"/>
            </a:solidFill>
            <a:prstDash val="solid"/>
          </a:ln>
        </p:spPr>
      </p:sp>
      <p:pic>
        <p:nvPicPr>
          <p:cNvPr id="18" name="Image 3" descr="preencoded.png"/>
          <p:cNvPicPr>
            <a:picLocks noChangeAspect="1"/>
          </p:cNvPicPr>
          <p:nvPr/>
        </p:nvPicPr>
        <p:blipFill>
          <a:blip r:embed="rId6"/>
          <a:stretch>
            <a:fillRect/>
          </a:stretch>
        </p:blipFill>
        <p:spPr>
          <a:xfrm>
            <a:off x="4828032" y="2788920"/>
            <a:ext cx="365760" cy="365760"/>
          </a:xfrm>
          <a:prstGeom prst="rect">
            <a:avLst/>
          </a:prstGeom>
        </p:spPr>
      </p:pic>
      <p:sp>
        <p:nvSpPr>
          <p:cNvPr id="19" name="Text 13"/>
          <p:cNvSpPr txBox="1"/>
          <p:nvPr/>
        </p:nvSpPr>
        <p:spPr>
          <a:xfrm>
            <a:off x="5349240" y="2715768"/>
            <a:ext cx="32004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21 professionals surveyed</a:t>
            </a:r>
            <a:endParaRPr lang="en-US" sz="1400"/>
          </a:p>
        </p:txBody>
      </p:sp>
      <p:sp>
        <p:nvSpPr>
          <p:cNvPr id="20" name="Text 14"/>
          <p:cNvSpPr txBox="1"/>
          <p:nvPr/>
        </p:nvSpPr>
        <p:spPr>
          <a:xfrm>
            <a:off x="5349240" y="3044952"/>
            <a:ext cx="3200400" cy="594360"/>
          </a:xfrm>
          <a:prstGeom prst="rect">
            <a:avLst/>
          </a:prstGeom>
          <a:noFill/>
          <a:ln/>
        </p:spPr>
        <p:txBody>
          <a:bodyPr wrap="square" lIns="0" tIns="0" rIns="0" bIns="0" rtlCol="0" anchor="t"/>
          <a:lstStyle/>
          <a:p>
            <a:pPr marL="0" indent="0">
              <a:buNone/>
            </a:pPr>
            <a:r>
              <a:rPr lang="en-US" sz="1000">
                <a:solidFill>
                  <a:srgbClr val="DCDCDC"/>
                </a:solidFill>
                <a:latin typeface="Calibri" pitchFamily="34" charset="0"/>
                <a:ea typeface="Calibri" pitchFamily="34" charset="-122"/>
                <a:cs typeface="Calibri" pitchFamily="34" charset="-120"/>
              </a:rPr>
              <a:t>Logistics, IT and other sectors shaped what we built</a:t>
            </a:r>
            <a:endParaRPr lang="en-US" sz="1000"/>
          </a:p>
        </p:txBody>
      </p:sp>
      <p:sp>
        <p:nvSpPr>
          <p:cNvPr id="21" name="Shape 15"/>
          <p:cNvSpPr/>
          <p:nvPr/>
        </p:nvSpPr>
        <p:spPr>
          <a:xfrm>
            <a:off x="822960" y="4224528"/>
            <a:ext cx="7498080" cy="0"/>
          </a:xfrm>
          <a:prstGeom prst="line">
            <a:avLst/>
          </a:prstGeom>
          <a:noFill/>
          <a:ln w="25400">
            <a:solidFill>
              <a:srgbClr val="343B4F"/>
            </a:solidFill>
            <a:prstDash val="solid"/>
          </a:ln>
        </p:spPr>
      </p:sp>
      <p:sp>
        <p:nvSpPr>
          <p:cNvPr id="22" name="Shape 16"/>
          <p:cNvSpPr/>
          <p:nvPr/>
        </p:nvSpPr>
        <p:spPr>
          <a:xfrm>
            <a:off x="740664" y="4142232"/>
            <a:ext cx="164592" cy="164592"/>
          </a:xfrm>
          <a:prstGeom prst="ellipse">
            <a:avLst/>
          </a:prstGeom>
          <a:solidFill>
            <a:srgbClr val="4CAF50"/>
          </a:solidFill>
          <a:ln w="12700">
            <a:solidFill>
              <a:srgbClr val="1E2333"/>
            </a:solidFill>
            <a:prstDash val="solid"/>
          </a:ln>
        </p:spPr>
      </p:sp>
      <p:sp>
        <p:nvSpPr>
          <p:cNvPr id="23" name="Text 17"/>
          <p:cNvSpPr txBox="1"/>
          <p:nvPr/>
        </p:nvSpPr>
        <p:spPr>
          <a:xfrm>
            <a:off x="0" y="4343400"/>
            <a:ext cx="1645920" cy="201168"/>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Sep 2026</a:t>
            </a:r>
            <a:endParaRPr lang="en-US" sz="950"/>
          </a:p>
        </p:txBody>
      </p:sp>
      <p:sp>
        <p:nvSpPr>
          <p:cNvPr id="24" name="Text 18"/>
          <p:cNvSpPr txBox="1"/>
          <p:nvPr/>
        </p:nvSpPr>
        <p:spPr>
          <a:xfrm>
            <a:off x="-182880" y="4544568"/>
            <a:ext cx="2011680" cy="228600"/>
          </a:xfrm>
          <a:prstGeom prst="rect">
            <a:avLst/>
          </a:prstGeom>
          <a:noFill/>
          <a:ln/>
        </p:spPr>
        <p:txBody>
          <a:bodyPr wrap="square" lIns="0" tIns="0" rIns="0" bIns="0" rtlCol="0" anchor="ctr"/>
          <a:lstStyle/>
          <a:p>
            <a:pPr marL="0" indent="0" algn="ctr">
              <a:buNone/>
            </a:pPr>
            <a:r>
              <a:rPr lang="en-US" sz="850">
                <a:solidFill>
                  <a:srgbClr val="9AA3B5"/>
                </a:solidFill>
                <a:latin typeface="Calibri" pitchFamily="34" charset="0"/>
                <a:ea typeface="Calibri" pitchFamily="34" charset="-122"/>
                <a:cs typeface="Calibri" pitchFamily="34" charset="-120"/>
              </a:rPr>
              <a:t>Beta 0.1.0 released</a:t>
            </a:r>
            <a:endParaRPr lang="en-US" sz="850"/>
          </a:p>
        </p:txBody>
      </p:sp>
      <p:sp>
        <p:nvSpPr>
          <p:cNvPr id="25" name="Shape 19"/>
          <p:cNvSpPr/>
          <p:nvPr/>
        </p:nvSpPr>
        <p:spPr>
          <a:xfrm>
            <a:off x="4489704" y="4142232"/>
            <a:ext cx="164592" cy="164592"/>
          </a:xfrm>
          <a:prstGeom prst="ellipse">
            <a:avLst/>
          </a:prstGeom>
          <a:solidFill>
            <a:srgbClr val="4682B4"/>
          </a:solidFill>
          <a:ln w="12700">
            <a:solidFill>
              <a:srgbClr val="1E2333"/>
            </a:solidFill>
            <a:prstDash val="solid"/>
          </a:ln>
        </p:spPr>
      </p:sp>
      <p:sp>
        <p:nvSpPr>
          <p:cNvPr id="26" name="Text 20"/>
          <p:cNvSpPr txBox="1"/>
          <p:nvPr/>
        </p:nvSpPr>
        <p:spPr>
          <a:xfrm>
            <a:off x="3749040" y="4343400"/>
            <a:ext cx="1645920" cy="201168"/>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Oct - Dec 2026</a:t>
            </a:r>
            <a:endParaRPr lang="en-US" sz="950"/>
          </a:p>
        </p:txBody>
      </p:sp>
      <p:sp>
        <p:nvSpPr>
          <p:cNvPr id="27" name="Text 21"/>
          <p:cNvSpPr txBox="1"/>
          <p:nvPr/>
        </p:nvSpPr>
        <p:spPr>
          <a:xfrm>
            <a:off x="3566160" y="4544568"/>
            <a:ext cx="2011680" cy="228600"/>
          </a:xfrm>
          <a:prstGeom prst="rect">
            <a:avLst/>
          </a:prstGeom>
          <a:noFill/>
          <a:ln/>
        </p:spPr>
        <p:txBody>
          <a:bodyPr wrap="square" lIns="0" tIns="0" rIns="0" bIns="0" rtlCol="0" anchor="ctr"/>
          <a:lstStyle/>
          <a:p>
            <a:pPr marL="0" indent="0" algn="ctr">
              <a:buNone/>
            </a:pPr>
            <a:r>
              <a:rPr lang="en-US" sz="850">
                <a:solidFill>
                  <a:srgbClr val="9AA3B5"/>
                </a:solidFill>
                <a:latin typeface="Calibri" pitchFamily="34" charset="0"/>
                <a:ea typeface="Calibri" pitchFamily="34" charset="-122"/>
                <a:cs typeface="Calibri" pitchFamily="34" charset="-120"/>
              </a:rPr>
              <a:t>Test cycles, fixes, first pilots</a:t>
            </a:r>
            <a:endParaRPr lang="en-US" sz="850"/>
          </a:p>
        </p:txBody>
      </p:sp>
      <p:sp>
        <p:nvSpPr>
          <p:cNvPr id="28" name="Shape 22"/>
          <p:cNvSpPr/>
          <p:nvPr/>
        </p:nvSpPr>
        <p:spPr>
          <a:xfrm>
            <a:off x="8238744" y="4142232"/>
            <a:ext cx="164592" cy="164592"/>
          </a:xfrm>
          <a:prstGeom prst="ellipse">
            <a:avLst/>
          </a:prstGeom>
          <a:solidFill>
            <a:srgbClr val="4682B4"/>
          </a:solidFill>
          <a:ln w="12700">
            <a:solidFill>
              <a:srgbClr val="1E2333"/>
            </a:solidFill>
            <a:prstDash val="solid"/>
          </a:ln>
        </p:spPr>
      </p:sp>
      <p:sp>
        <p:nvSpPr>
          <p:cNvPr id="29" name="Text 23"/>
          <p:cNvSpPr txBox="1"/>
          <p:nvPr/>
        </p:nvSpPr>
        <p:spPr>
          <a:xfrm>
            <a:off x="7498080" y="4343400"/>
            <a:ext cx="1645920" cy="201168"/>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Feb 2027</a:t>
            </a:r>
            <a:endParaRPr lang="en-US" sz="950"/>
          </a:p>
        </p:txBody>
      </p:sp>
      <p:sp>
        <p:nvSpPr>
          <p:cNvPr id="30" name="Text 24"/>
          <p:cNvSpPr txBox="1"/>
          <p:nvPr/>
        </p:nvSpPr>
        <p:spPr>
          <a:xfrm>
            <a:off x="7315200" y="4544568"/>
            <a:ext cx="2011680" cy="228600"/>
          </a:xfrm>
          <a:prstGeom prst="rect">
            <a:avLst/>
          </a:prstGeom>
          <a:noFill/>
          <a:ln/>
        </p:spPr>
        <p:txBody>
          <a:bodyPr wrap="square" lIns="0" tIns="0" rIns="0" bIns="0" rtlCol="0" anchor="ctr"/>
          <a:lstStyle/>
          <a:p>
            <a:pPr marL="0" indent="0" algn="ctr">
              <a:buNone/>
            </a:pPr>
            <a:r>
              <a:rPr lang="en-US" sz="850">
                <a:solidFill>
                  <a:srgbClr val="9AA3B5"/>
                </a:solidFill>
                <a:latin typeface="Calibri" pitchFamily="34" charset="0"/>
                <a:ea typeface="Calibri" pitchFamily="34" charset="-122"/>
                <a:cs typeface="Calibri" pitchFamily="34" charset="-120"/>
              </a:rPr>
              <a:t>Epitech Experience - public launch</a:t>
            </a:r>
            <a:endParaRPr lang="en-US" sz="8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What comes next, and what we need</a:t>
            </a:r>
            <a:endParaRPr lang="en-US" sz="2600"/>
          </a:p>
        </p:txBody>
      </p:sp>
      <p:sp>
        <p:nvSpPr>
          <p:cNvPr id="4" name="Text 2"/>
          <p:cNvSpPr txBox="1"/>
          <p:nvPr/>
        </p:nvSpPr>
        <p:spPr>
          <a:xfrm>
            <a:off x="457200" y="850392"/>
            <a:ext cx="8229600" cy="320040"/>
          </a:xfrm>
          <a:prstGeom prst="rect">
            <a:avLst/>
          </a:prstGeom>
          <a:noFill/>
          <a:ln/>
        </p:spPr>
        <p:txBody>
          <a:bodyPr wrap="square" lIns="0" tIns="0" rIns="0" bIns="0" rtlCol="0" anchor="ctr"/>
          <a:lstStyle/>
          <a:p>
            <a:pPr marL="0" indent="0">
              <a:buNone/>
            </a:pPr>
            <a:r>
              <a:rPr lang="en-US" sz="1200" i="1">
                <a:solidFill>
                  <a:srgbClr val="4682B4"/>
                </a:solidFill>
                <a:latin typeface="Calibri" pitchFamily="34" charset="0"/>
                <a:ea typeface="Calibri" pitchFamily="34" charset="-122"/>
                <a:cs typeface="Calibri" pitchFamily="34" charset="-120"/>
              </a:rPr>
              <a:t>Two pillars to February 2027 - and three things that would move us faster</a:t>
            </a:r>
            <a:endParaRPr lang="en-US" sz="1200"/>
          </a:p>
        </p:txBody>
      </p:sp>
      <p:sp>
        <p:nvSpPr>
          <p:cNvPr id="5" name="Shape 3"/>
          <p:cNvSpPr/>
          <p:nvPr/>
        </p:nvSpPr>
        <p:spPr>
          <a:xfrm>
            <a:off x="457200" y="1371600"/>
            <a:ext cx="2651760" cy="2514600"/>
          </a:xfrm>
          <a:prstGeom prst="roundRect">
            <a:avLst>
              <a:gd name="adj" fmla="val 2909"/>
            </a:avLst>
          </a:prstGeom>
          <a:solidFill>
            <a:srgbClr val="252B3B"/>
          </a:solidFill>
          <a:ln w="9525">
            <a:solidFill>
              <a:srgbClr val="343B4F"/>
            </a:solidFill>
            <a:prstDash val="solid"/>
          </a:ln>
        </p:spPr>
      </p:sp>
      <p:sp>
        <p:nvSpPr>
          <p:cNvPr id="6" name="Text 4"/>
          <p:cNvSpPr txBox="1"/>
          <p:nvPr/>
        </p:nvSpPr>
        <p:spPr>
          <a:xfrm>
            <a:off x="640080" y="1481328"/>
            <a:ext cx="2286000" cy="32004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Autonomous agent</a:t>
            </a:r>
            <a:endParaRPr lang="en-US" sz="1500"/>
          </a:p>
        </p:txBody>
      </p:sp>
      <p:sp>
        <p:nvSpPr>
          <p:cNvPr id="7" name="Text 5"/>
          <p:cNvSpPr txBox="1"/>
          <p:nvPr/>
        </p:nvSpPr>
        <p:spPr>
          <a:xfrm>
            <a:off x="640080" y="1801368"/>
            <a:ext cx="2286000" cy="274320"/>
          </a:xfrm>
          <a:prstGeom prst="rect">
            <a:avLst/>
          </a:prstGeom>
          <a:noFill/>
          <a:ln/>
        </p:spPr>
        <p:txBody>
          <a:bodyPr wrap="square" lIns="0" tIns="0" rIns="0" bIns="0" rtlCol="0" anchor="ctr"/>
          <a:lstStyle/>
          <a:p>
            <a:pPr marL="0" indent="0">
              <a:buNone/>
            </a:pPr>
            <a:r>
              <a:rPr lang="en-US" sz="1000" i="1">
                <a:solidFill>
                  <a:srgbClr val="4682B4"/>
                </a:solidFill>
                <a:latin typeface="Calibri" pitchFamily="34" charset="0"/>
                <a:ea typeface="Calibri" pitchFamily="34" charset="-122"/>
                <a:cs typeface="Calibri" pitchFamily="34" charset="-120"/>
              </a:rPr>
              <a:t>AI that works for you</a:t>
            </a:r>
            <a:endParaRPr lang="en-US" sz="1000"/>
          </a:p>
        </p:txBody>
      </p:sp>
      <p:sp>
        <p:nvSpPr>
          <p:cNvPr id="8" name="Text 6"/>
          <p:cNvSpPr txBox="1"/>
          <p:nvPr/>
        </p:nvSpPr>
        <p:spPr>
          <a:xfrm>
            <a:off x="640080" y="2148840"/>
            <a:ext cx="2286000" cy="1188720"/>
          </a:xfrm>
          <a:prstGeom prst="rect">
            <a:avLst/>
          </a:prstGeom>
          <a:noFill/>
          <a:ln/>
        </p:spPr>
        <p:txBody>
          <a:bodyPr wrap="square" lIns="0" tIns="0" rIns="0" bIns="0" rtlCol="0" anchor="t"/>
          <a:lstStyle/>
          <a:p>
            <a:pPr marL="177800" indent="-177800">
              <a:spcAft>
                <a:spcPts val="500"/>
              </a:spcAft>
              <a:buSzPct val="100000"/>
              <a:buChar char="•"/>
            </a:pPr>
            <a:r>
              <a:rPr lang="en-US" sz="1050">
                <a:solidFill>
                  <a:srgbClr val="DCDCDC"/>
                </a:solidFill>
                <a:latin typeface="Calibri" pitchFamily="34" charset="0"/>
                <a:ea typeface="Calibri" pitchFamily="34" charset="-122"/>
                <a:cs typeface="Calibri" pitchFamily="34" charset="-120"/>
              </a:rPr>
              <a:t>Learns from how your team actually works</a:t>
            </a:r>
            <a:endParaRPr lang="en-US" sz="1050"/>
          </a:p>
          <a:p>
            <a:pPr marL="177800" indent="-177800">
              <a:spcAft>
                <a:spcPts val="500"/>
              </a:spcAft>
              <a:buSzPct val="100000"/>
              <a:buChar char="•"/>
            </a:pPr>
            <a:r>
              <a:rPr lang="en-US" sz="1050">
                <a:solidFill>
                  <a:srgbClr val="DCDCDC"/>
                </a:solidFill>
                <a:latin typeface="Calibri" pitchFamily="34" charset="0"/>
                <a:ea typeface="Calibri" pitchFamily="34" charset="-122"/>
                <a:cs typeface="Calibri" pitchFamily="34" charset="-120"/>
              </a:rPr>
              <a:t>Suggests actions before you ask</a:t>
            </a:r>
            <a:endParaRPr lang="en-US" sz="1050"/>
          </a:p>
          <a:p>
            <a:pPr marL="177800" indent="-177800">
              <a:spcAft>
                <a:spcPts val="500"/>
              </a:spcAft>
              <a:buSzPct val="100000"/>
              <a:buChar char="•"/>
            </a:pPr>
            <a:r>
              <a:rPr lang="en-US" sz="1050">
                <a:solidFill>
                  <a:srgbClr val="DCDCDC"/>
                </a:solidFill>
                <a:latin typeface="Calibri" pitchFamily="34" charset="0"/>
                <a:ea typeface="Calibri" pitchFamily="34" charset="-122"/>
                <a:cs typeface="Calibri" pitchFamily="34" charset="-120"/>
              </a:rPr>
              <a:t>Remembers context across conversations</a:t>
            </a:r>
            <a:endParaRPr lang="en-US" sz="1050"/>
          </a:p>
        </p:txBody>
      </p:sp>
      <p:sp>
        <p:nvSpPr>
          <p:cNvPr id="9" name="Text 7"/>
          <p:cNvSpPr txBox="1"/>
          <p:nvPr/>
        </p:nvSpPr>
        <p:spPr>
          <a:xfrm>
            <a:off x="640080" y="3401568"/>
            <a:ext cx="731520" cy="201168"/>
          </a:xfrm>
          <a:prstGeom prst="rect">
            <a:avLst/>
          </a:prstGeom>
          <a:noFill/>
          <a:ln/>
        </p:spPr>
        <p:txBody>
          <a:bodyPr wrap="square" lIns="0" tIns="0" rIns="0" bIns="0" rtlCol="0" anchor="ctr"/>
          <a:lstStyle/>
          <a:p>
            <a:pPr marL="0" indent="0">
              <a:buNone/>
            </a:pPr>
            <a:r>
              <a:rPr lang="en-US" sz="800" b="1">
                <a:solidFill>
                  <a:srgbClr val="4682B4"/>
                </a:solidFill>
                <a:latin typeface="Calibri" pitchFamily="34" charset="0"/>
                <a:ea typeface="Calibri" pitchFamily="34" charset="-122"/>
                <a:cs typeface="Calibri" pitchFamily="34" charset="-120"/>
              </a:rPr>
              <a:t>Q3 2026</a:t>
            </a:r>
            <a:endParaRPr lang="en-US" sz="800"/>
          </a:p>
        </p:txBody>
      </p:sp>
      <p:sp>
        <p:nvSpPr>
          <p:cNvPr id="10" name="Text 8"/>
          <p:cNvSpPr txBox="1"/>
          <p:nvPr/>
        </p:nvSpPr>
        <p:spPr>
          <a:xfrm>
            <a:off x="640080" y="3584448"/>
            <a:ext cx="731520" cy="201168"/>
          </a:xfrm>
          <a:prstGeom prst="rect">
            <a:avLst/>
          </a:prstGeom>
          <a:noFill/>
          <a:ln/>
        </p:spPr>
        <p:txBody>
          <a:bodyPr wrap="square" lIns="0" tIns="0" rIns="0" bIns="0" rtlCol="0" anchor="ctr"/>
          <a:lstStyle/>
          <a:p>
            <a:pPr marL="0" indent="0">
              <a:buNone/>
            </a:pPr>
            <a:r>
              <a:rPr lang="en-US" sz="800">
                <a:solidFill>
                  <a:srgbClr val="9AA3B5"/>
                </a:solidFill>
                <a:latin typeface="Calibri" pitchFamily="34" charset="0"/>
                <a:ea typeface="Calibri" pitchFamily="34" charset="-122"/>
                <a:cs typeface="Calibri" pitchFamily="34" charset="-120"/>
              </a:rPr>
              <a:t>Foundation</a:t>
            </a:r>
            <a:endParaRPr lang="en-US" sz="800"/>
          </a:p>
        </p:txBody>
      </p:sp>
      <p:sp>
        <p:nvSpPr>
          <p:cNvPr id="11" name="Text 9"/>
          <p:cNvSpPr txBox="1"/>
          <p:nvPr/>
        </p:nvSpPr>
        <p:spPr>
          <a:xfrm>
            <a:off x="1417320" y="3401568"/>
            <a:ext cx="731520" cy="201168"/>
          </a:xfrm>
          <a:prstGeom prst="rect">
            <a:avLst/>
          </a:prstGeom>
          <a:noFill/>
          <a:ln/>
        </p:spPr>
        <p:txBody>
          <a:bodyPr wrap="square" lIns="0" tIns="0" rIns="0" bIns="0" rtlCol="0" anchor="ctr"/>
          <a:lstStyle/>
          <a:p>
            <a:pPr marL="0" indent="0">
              <a:buNone/>
            </a:pPr>
            <a:r>
              <a:rPr lang="en-US" sz="800" b="1">
                <a:solidFill>
                  <a:srgbClr val="4682B4"/>
                </a:solidFill>
                <a:latin typeface="Calibri" pitchFamily="34" charset="0"/>
                <a:ea typeface="Calibri" pitchFamily="34" charset="-122"/>
                <a:cs typeface="Calibri" pitchFamily="34" charset="-120"/>
              </a:rPr>
              <a:t>Q4 2026</a:t>
            </a:r>
            <a:endParaRPr lang="en-US" sz="800"/>
          </a:p>
        </p:txBody>
      </p:sp>
      <p:sp>
        <p:nvSpPr>
          <p:cNvPr id="12" name="Text 10"/>
          <p:cNvSpPr txBox="1"/>
          <p:nvPr/>
        </p:nvSpPr>
        <p:spPr>
          <a:xfrm>
            <a:off x="1417320" y="3584448"/>
            <a:ext cx="731520" cy="201168"/>
          </a:xfrm>
          <a:prstGeom prst="rect">
            <a:avLst/>
          </a:prstGeom>
          <a:noFill/>
          <a:ln/>
        </p:spPr>
        <p:txBody>
          <a:bodyPr wrap="square" lIns="0" tIns="0" rIns="0" bIns="0" rtlCol="0" anchor="ctr"/>
          <a:lstStyle/>
          <a:p>
            <a:pPr marL="0" indent="0">
              <a:buNone/>
            </a:pPr>
            <a:r>
              <a:rPr lang="en-US" sz="800">
                <a:solidFill>
                  <a:srgbClr val="9AA3B5"/>
                </a:solidFill>
                <a:latin typeface="Calibri" pitchFamily="34" charset="0"/>
                <a:ea typeface="Calibri" pitchFamily="34" charset="-122"/>
                <a:cs typeface="Calibri" pitchFamily="34" charset="-120"/>
              </a:rPr>
              <a:t>Integration</a:t>
            </a:r>
            <a:endParaRPr lang="en-US" sz="800"/>
          </a:p>
        </p:txBody>
      </p:sp>
      <p:sp>
        <p:nvSpPr>
          <p:cNvPr id="13" name="Text 11"/>
          <p:cNvSpPr txBox="1"/>
          <p:nvPr/>
        </p:nvSpPr>
        <p:spPr>
          <a:xfrm>
            <a:off x="2194560" y="3401568"/>
            <a:ext cx="731520" cy="201168"/>
          </a:xfrm>
          <a:prstGeom prst="rect">
            <a:avLst/>
          </a:prstGeom>
          <a:noFill/>
          <a:ln/>
        </p:spPr>
        <p:txBody>
          <a:bodyPr wrap="square" lIns="0" tIns="0" rIns="0" bIns="0" rtlCol="0" anchor="ctr"/>
          <a:lstStyle/>
          <a:p>
            <a:pPr marL="0" indent="0">
              <a:buNone/>
            </a:pPr>
            <a:r>
              <a:rPr lang="en-US" sz="800" b="1">
                <a:solidFill>
                  <a:srgbClr val="4CAF50"/>
                </a:solidFill>
                <a:latin typeface="Calibri" pitchFamily="34" charset="0"/>
                <a:ea typeface="Calibri" pitchFamily="34" charset="-122"/>
                <a:cs typeface="Calibri" pitchFamily="34" charset="-120"/>
              </a:rPr>
              <a:t>Q1 2027</a:t>
            </a:r>
            <a:endParaRPr lang="en-US" sz="800"/>
          </a:p>
        </p:txBody>
      </p:sp>
      <p:sp>
        <p:nvSpPr>
          <p:cNvPr id="14" name="Text 12"/>
          <p:cNvSpPr txBox="1"/>
          <p:nvPr/>
        </p:nvSpPr>
        <p:spPr>
          <a:xfrm>
            <a:off x="2194560" y="3584448"/>
            <a:ext cx="731520" cy="201168"/>
          </a:xfrm>
          <a:prstGeom prst="rect">
            <a:avLst/>
          </a:prstGeom>
          <a:noFill/>
          <a:ln/>
        </p:spPr>
        <p:txBody>
          <a:bodyPr wrap="square" lIns="0" tIns="0" rIns="0" bIns="0" rtlCol="0" anchor="ctr"/>
          <a:lstStyle/>
          <a:p>
            <a:pPr marL="0" indent="0">
              <a:buNone/>
            </a:pPr>
            <a:r>
              <a:rPr lang="en-US" sz="800">
                <a:solidFill>
                  <a:srgbClr val="9AA3B5"/>
                </a:solidFill>
                <a:latin typeface="Calibri" pitchFamily="34" charset="0"/>
                <a:ea typeface="Calibri" pitchFamily="34" charset="-122"/>
                <a:cs typeface="Calibri" pitchFamily="34" charset="-120"/>
              </a:rPr>
              <a:t>Launch</a:t>
            </a:r>
            <a:endParaRPr lang="en-US" sz="800"/>
          </a:p>
        </p:txBody>
      </p:sp>
      <p:sp>
        <p:nvSpPr>
          <p:cNvPr id="15" name="Shape 13"/>
          <p:cNvSpPr/>
          <p:nvPr/>
        </p:nvSpPr>
        <p:spPr>
          <a:xfrm>
            <a:off x="3246120" y="1371600"/>
            <a:ext cx="2651760" cy="2514600"/>
          </a:xfrm>
          <a:prstGeom prst="roundRect">
            <a:avLst>
              <a:gd name="adj" fmla="val 2909"/>
            </a:avLst>
          </a:prstGeom>
          <a:solidFill>
            <a:srgbClr val="252B3B"/>
          </a:solidFill>
          <a:ln w="9525">
            <a:solidFill>
              <a:srgbClr val="343B4F"/>
            </a:solidFill>
            <a:prstDash val="solid"/>
          </a:ln>
        </p:spPr>
      </p:sp>
      <p:sp>
        <p:nvSpPr>
          <p:cNvPr id="16" name="Text 14"/>
          <p:cNvSpPr txBox="1"/>
          <p:nvPr/>
        </p:nvSpPr>
        <p:spPr>
          <a:xfrm>
            <a:off x="3429000" y="1481328"/>
            <a:ext cx="2286000" cy="32004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Agent marketplace</a:t>
            </a:r>
            <a:endParaRPr lang="en-US" sz="1500"/>
          </a:p>
        </p:txBody>
      </p:sp>
      <p:sp>
        <p:nvSpPr>
          <p:cNvPr id="17" name="Text 15"/>
          <p:cNvSpPr txBox="1"/>
          <p:nvPr/>
        </p:nvSpPr>
        <p:spPr>
          <a:xfrm>
            <a:off x="3429000" y="1801368"/>
            <a:ext cx="2286000" cy="274320"/>
          </a:xfrm>
          <a:prstGeom prst="rect">
            <a:avLst/>
          </a:prstGeom>
          <a:noFill/>
          <a:ln/>
        </p:spPr>
        <p:txBody>
          <a:bodyPr wrap="square" lIns="0" tIns="0" rIns="0" bIns="0" rtlCol="0" anchor="ctr"/>
          <a:lstStyle/>
          <a:p>
            <a:pPr marL="0" indent="0">
              <a:buNone/>
            </a:pPr>
            <a:r>
              <a:rPr lang="en-US" sz="1000" i="1">
                <a:solidFill>
                  <a:srgbClr val="4682B4"/>
                </a:solidFill>
                <a:latin typeface="Calibri" pitchFamily="34" charset="0"/>
                <a:ea typeface="Calibri" pitchFamily="34" charset="-122"/>
                <a:cs typeface="Calibri" pitchFamily="34" charset="-120"/>
              </a:rPr>
              <a:t>Build and share agents, no code</a:t>
            </a:r>
            <a:endParaRPr lang="en-US" sz="1000"/>
          </a:p>
        </p:txBody>
      </p:sp>
      <p:sp>
        <p:nvSpPr>
          <p:cNvPr id="18" name="Text 16"/>
          <p:cNvSpPr txBox="1"/>
          <p:nvPr/>
        </p:nvSpPr>
        <p:spPr>
          <a:xfrm>
            <a:off x="3429000" y="2148840"/>
            <a:ext cx="2286000" cy="1188720"/>
          </a:xfrm>
          <a:prstGeom prst="rect">
            <a:avLst/>
          </a:prstGeom>
          <a:noFill/>
          <a:ln/>
        </p:spPr>
        <p:txBody>
          <a:bodyPr wrap="square" lIns="0" tIns="0" rIns="0" bIns="0" rtlCol="0" anchor="t"/>
          <a:lstStyle/>
          <a:p>
            <a:pPr marL="177800" indent="-177800">
              <a:spcAft>
                <a:spcPts val="500"/>
              </a:spcAft>
              <a:buSzPct val="100000"/>
              <a:buChar char="•"/>
            </a:pPr>
            <a:r>
              <a:rPr lang="en-US" sz="1050">
                <a:solidFill>
                  <a:srgbClr val="DCDCDC"/>
                </a:solidFill>
                <a:latin typeface="Calibri" pitchFamily="34" charset="0"/>
                <a:ea typeface="Calibri" pitchFamily="34" charset="-122"/>
                <a:cs typeface="Calibri" pitchFamily="34" charset="-120"/>
              </a:rPr>
              <a:t>Drag-and-drop agent builder</a:t>
            </a:r>
            <a:endParaRPr lang="en-US" sz="1050"/>
          </a:p>
          <a:p>
            <a:pPr marL="177800" indent="-177800">
              <a:spcAft>
                <a:spcPts val="500"/>
              </a:spcAft>
              <a:buSzPct val="100000"/>
              <a:buChar char="•"/>
            </a:pPr>
            <a:r>
              <a:rPr lang="en-US" sz="1050">
                <a:solidFill>
                  <a:srgbClr val="DCDCDC"/>
                </a:solidFill>
                <a:latin typeface="Calibri" pitchFamily="34" charset="0"/>
                <a:ea typeface="Calibri" pitchFamily="34" charset="-122"/>
                <a:cs typeface="Calibri" pitchFamily="34" charset="-120"/>
              </a:rPr>
              <a:t>Versioning and trust scores</a:t>
            </a:r>
            <a:endParaRPr lang="en-US" sz="1050"/>
          </a:p>
          <a:p>
            <a:pPr marL="177800" indent="-177800">
              <a:spcAft>
                <a:spcPts val="500"/>
              </a:spcAft>
              <a:buSzPct val="100000"/>
              <a:buChar char="•"/>
            </a:pPr>
            <a:r>
              <a:rPr lang="en-US" sz="1050">
                <a:solidFill>
                  <a:srgbClr val="DCDCDC"/>
                </a:solidFill>
                <a:latin typeface="Calibri" pitchFamily="34" charset="0"/>
                <a:ea typeface="Calibri" pitchFamily="34" charset="-122"/>
                <a:cs typeface="Calibri" pitchFamily="34" charset="-120"/>
              </a:rPr>
              <a:t>Share agents across teams or companies</a:t>
            </a:r>
            <a:endParaRPr lang="en-US" sz="1050"/>
          </a:p>
        </p:txBody>
      </p:sp>
      <p:sp>
        <p:nvSpPr>
          <p:cNvPr id="19" name="Text 17"/>
          <p:cNvSpPr txBox="1"/>
          <p:nvPr/>
        </p:nvSpPr>
        <p:spPr>
          <a:xfrm>
            <a:off x="3429000" y="3401568"/>
            <a:ext cx="731520" cy="201168"/>
          </a:xfrm>
          <a:prstGeom prst="rect">
            <a:avLst/>
          </a:prstGeom>
          <a:noFill/>
          <a:ln/>
        </p:spPr>
        <p:txBody>
          <a:bodyPr wrap="square" lIns="0" tIns="0" rIns="0" bIns="0" rtlCol="0" anchor="ctr"/>
          <a:lstStyle/>
          <a:p>
            <a:pPr marL="0" indent="0">
              <a:buNone/>
            </a:pPr>
            <a:r>
              <a:rPr lang="en-US" sz="800" b="1">
                <a:solidFill>
                  <a:srgbClr val="4682B4"/>
                </a:solidFill>
                <a:latin typeface="Calibri" pitchFamily="34" charset="0"/>
                <a:ea typeface="Calibri" pitchFamily="34" charset="-122"/>
                <a:cs typeface="Calibri" pitchFamily="34" charset="-120"/>
              </a:rPr>
              <a:t>Q3 2026</a:t>
            </a:r>
            <a:endParaRPr lang="en-US" sz="800"/>
          </a:p>
        </p:txBody>
      </p:sp>
      <p:sp>
        <p:nvSpPr>
          <p:cNvPr id="20" name="Text 18"/>
          <p:cNvSpPr txBox="1"/>
          <p:nvPr/>
        </p:nvSpPr>
        <p:spPr>
          <a:xfrm>
            <a:off x="3429000" y="3584448"/>
            <a:ext cx="731520" cy="201168"/>
          </a:xfrm>
          <a:prstGeom prst="rect">
            <a:avLst/>
          </a:prstGeom>
          <a:noFill/>
          <a:ln/>
        </p:spPr>
        <p:txBody>
          <a:bodyPr wrap="square" lIns="0" tIns="0" rIns="0" bIns="0" rtlCol="0" anchor="ctr"/>
          <a:lstStyle/>
          <a:p>
            <a:pPr marL="0" indent="0">
              <a:buNone/>
            </a:pPr>
            <a:r>
              <a:rPr lang="en-US" sz="800">
                <a:solidFill>
                  <a:srgbClr val="9AA3B5"/>
                </a:solidFill>
                <a:latin typeface="Calibri" pitchFamily="34" charset="0"/>
                <a:ea typeface="Calibri" pitchFamily="34" charset="-122"/>
                <a:cs typeface="Calibri" pitchFamily="34" charset="-120"/>
              </a:rPr>
              <a:t>Foundation</a:t>
            </a:r>
            <a:endParaRPr lang="en-US" sz="800"/>
          </a:p>
        </p:txBody>
      </p:sp>
      <p:sp>
        <p:nvSpPr>
          <p:cNvPr id="21" name="Text 19"/>
          <p:cNvSpPr txBox="1"/>
          <p:nvPr/>
        </p:nvSpPr>
        <p:spPr>
          <a:xfrm>
            <a:off x="4206240" y="3401568"/>
            <a:ext cx="731520" cy="201168"/>
          </a:xfrm>
          <a:prstGeom prst="rect">
            <a:avLst/>
          </a:prstGeom>
          <a:noFill/>
          <a:ln/>
        </p:spPr>
        <p:txBody>
          <a:bodyPr wrap="square" lIns="0" tIns="0" rIns="0" bIns="0" rtlCol="0" anchor="ctr"/>
          <a:lstStyle/>
          <a:p>
            <a:pPr marL="0" indent="0">
              <a:buNone/>
            </a:pPr>
            <a:r>
              <a:rPr lang="en-US" sz="800" b="1">
                <a:solidFill>
                  <a:srgbClr val="4682B4"/>
                </a:solidFill>
                <a:latin typeface="Calibri" pitchFamily="34" charset="0"/>
                <a:ea typeface="Calibri" pitchFamily="34" charset="-122"/>
                <a:cs typeface="Calibri" pitchFamily="34" charset="-120"/>
              </a:rPr>
              <a:t>Q4 2026</a:t>
            </a:r>
            <a:endParaRPr lang="en-US" sz="800"/>
          </a:p>
        </p:txBody>
      </p:sp>
      <p:sp>
        <p:nvSpPr>
          <p:cNvPr id="22" name="Text 20"/>
          <p:cNvSpPr txBox="1"/>
          <p:nvPr/>
        </p:nvSpPr>
        <p:spPr>
          <a:xfrm>
            <a:off x="4206240" y="3584448"/>
            <a:ext cx="731520" cy="201168"/>
          </a:xfrm>
          <a:prstGeom prst="rect">
            <a:avLst/>
          </a:prstGeom>
          <a:noFill/>
          <a:ln/>
        </p:spPr>
        <p:txBody>
          <a:bodyPr wrap="square" lIns="0" tIns="0" rIns="0" bIns="0" rtlCol="0" anchor="ctr"/>
          <a:lstStyle/>
          <a:p>
            <a:pPr marL="0" indent="0">
              <a:buNone/>
            </a:pPr>
            <a:r>
              <a:rPr lang="en-US" sz="800">
                <a:solidFill>
                  <a:srgbClr val="9AA3B5"/>
                </a:solidFill>
                <a:latin typeface="Calibri" pitchFamily="34" charset="0"/>
                <a:ea typeface="Calibri" pitchFamily="34" charset="-122"/>
                <a:cs typeface="Calibri" pitchFamily="34" charset="-120"/>
              </a:rPr>
              <a:t>Integration</a:t>
            </a:r>
            <a:endParaRPr lang="en-US" sz="800"/>
          </a:p>
        </p:txBody>
      </p:sp>
      <p:sp>
        <p:nvSpPr>
          <p:cNvPr id="23" name="Text 21"/>
          <p:cNvSpPr txBox="1"/>
          <p:nvPr/>
        </p:nvSpPr>
        <p:spPr>
          <a:xfrm>
            <a:off x="4983480" y="3401568"/>
            <a:ext cx="731520" cy="201168"/>
          </a:xfrm>
          <a:prstGeom prst="rect">
            <a:avLst/>
          </a:prstGeom>
          <a:noFill/>
          <a:ln/>
        </p:spPr>
        <p:txBody>
          <a:bodyPr wrap="square" lIns="0" tIns="0" rIns="0" bIns="0" rtlCol="0" anchor="ctr"/>
          <a:lstStyle/>
          <a:p>
            <a:pPr marL="0" indent="0">
              <a:buNone/>
            </a:pPr>
            <a:r>
              <a:rPr lang="en-US" sz="800" b="1">
                <a:solidFill>
                  <a:srgbClr val="4CAF50"/>
                </a:solidFill>
                <a:latin typeface="Calibri" pitchFamily="34" charset="0"/>
                <a:ea typeface="Calibri" pitchFamily="34" charset="-122"/>
                <a:cs typeface="Calibri" pitchFamily="34" charset="-120"/>
              </a:rPr>
              <a:t>Q1 2027</a:t>
            </a:r>
            <a:endParaRPr lang="en-US" sz="800"/>
          </a:p>
        </p:txBody>
      </p:sp>
      <p:sp>
        <p:nvSpPr>
          <p:cNvPr id="24" name="Text 22"/>
          <p:cNvSpPr txBox="1"/>
          <p:nvPr/>
        </p:nvSpPr>
        <p:spPr>
          <a:xfrm>
            <a:off x="4983480" y="3584448"/>
            <a:ext cx="731520" cy="201168"/>
          </a:xfrm>
          <a:prstGeom prst="rect">
            <a:avLst/>
          </a:prstGeom>
          <a:noFill/>
          <a:ln/>
        </p:spPr>
        <p:txBody>
          <a:bodyPr wrap="square" lIns="0" tIns="0" rIns="0" bIns="0" rtlCol="0" anchor="ctr"/>
          <a:lstStyle/>
          <a:p>
            <a:pPr marL="0" indent="0">
              <a:buNone/>
            </a:pPr>
            <a:r>
              <a:rPr lang="en-US" sz="800">
                <a:solidFill>
                  <a:srgbClr val="9AA3B5"/>
                </a:solidFill>
                <a:latin typeface="Calibri" pitchFamily="34" charset="0"/>
                <a:ea typeface="Calibri" pitchFamily="34" charset="-122"/>
                <a:cs typeface="Calibri" pitchFamily="34" charset="-120"/>
              </a:rPr>
              <a:t>Launch</a:t>
            </a:r>
            <a:endParaRPr lang="en-US" sz="800"/>
          </a:p>
        </p:txBody>
      </p:sp>
      <p:sp>
        <p:nvSpPr>
          <p:cNvPr id="25" name="Shape 23"/>
          <p:cNvSpPr/>
          <p:nvPr/>
        </p:nvSpPr>
        <p:spPr>
          <a:xfrm>
            <a:off x="6035040" y="1371600"/>
            <a:ext cx="2651760" cy="2514600"/>
          </a:xfrm>
          <a:prstGeom prst="roundRect">
            <a:avLst>
              <a:gd name="adj" fmla="val 2909"/>
            </a:avLst>
          </a:prstGeom>
          <a:solidFill>
            <a:srgbClr val="252B3B"/>
          </a:solidFill>
          <a:ln w="9525">
            <a:solidFill>
              <a:srgbClr val="343B4F"/>
            </a:solidFill>
            <a:prstDash val="solid"/>
          </a:ln>
        </p:spPr>
      </p:sp>
      <p:pic>
        <p:nvPicPr>
          <p:cNvPr id="26" name="Image 0" descr="preencoded.png"/>
          <p:cNvPicPr>
            <a:picLocks noChangeAspect="1"/>
          </p:cNvPicPr>
          <p:nvPr/>
        </p:nvPicPr>
        <p:blipFill>
          <a:blip r:embed="rId3"/>
          <a:stretch>
            <a:fillRect/>
          </a:stretch>
        </p:blipFill>
        <p:spPr>
          <a:xfrm>
            <a:off x="6217920" y="1508760"/>
            <a:ext cx="365760" cy="365760"/>
          </a:xfrm>
          <a:prstGeom prst="rect">
            <a:avLst/>
          </a:prstGeom>
        </p:spPr>
      </p:pic>
      <p:sp>
        <p:nvSpPr>
          <p:cNvPr id="27" name="Text 24"/>
          <p:cNvSpPr txBox="1"/>
          <p:nvPr/>
        </p:nvSpPr>
        <p:spPr>
          <a:xfrm>
            <a:off x="6675120" y="1508760"/>
            <a:ext cx="1920240" cy="36576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What we're looking for</a:t>
            </a:r>
            <a:endParaRPr lang="en-US" sz="1400"/>
          </a:p>
        </p:txBody>
      </p:sp>
      <p:sp>
        <p:nvSpPr>
          <p:cNvPr id="28" name="Text 25"/>
          <p:cNvSpPr txBox="1"/>
          <p:nvPr/>
        </p:nvSpPr>
        <p:spPr>
          <a:xfrm>
            <a:off x="6217920" y="2011680"/>
            <a:ext cx="2286000" cy="228600"/>
          </a:xfrm>
          <a:prstGeom prst="rect">
            <a:avLst/>
          </a:prstGeom>
          <a:noFill/>
          <a:ln/>
        </p:spPr>
        <p:txBody>
          <a:bodyPr wrap="square" lIns="0" tIns="0" rIns="0" bIns="0" rtlCol="0" anchor="ctr"/>
          <a:lstStyle/>
          <a:p>
            <a:pPr marL="0" indent="0">
              <a:buNone/>
            </a:pPr>
            <a:r>
              <a:rPr lang="en-US" sz="1150" b="1">
                <a:solidFill>
                  <a:srgbClr val="E67E22"/>
                </a:solidFill>
                <a:latin typeface="Calibri" pitchFamily="34" charset="0"/>
                <a:ea typeface="Calibri" pitchFamily="34" charset="-122"/>
                <a:cs typeface="Calibri" pitchFamily="34" charset="-120"/>
              </a:rPr>
              <a:t>3 pilot companies</a:t>
            </a:r>
            <a:endParaRPr lang="en-US" sz="1150"/>
          </a:p>
        </p:txBody>
      </p:sp>
      <p:sp>
        <p:nvSpPr>
          <p:cNvPr id="29" name="Text 26"/>
          <p:cNvSpPr txBox="1"/>
          <p:nvPr/>
        </p:nvSpPr>
        <p:spPr>
          <a:xfrm>
            <a:off x="6217920" y="2240280"/>
            <a:ext cx="2286000" cy="365760"/>
          </a:xfrm>
          <a:prstGeom prst="rect">
            <a:avLst/>
          </a:prstGeom>
          <a:noFill/>
          <a:ln/>
        </p:spPr>
        <p:txBody>
          <a:bodyPr wrap="square" lIns="0" tIns="0" rIns="0" bIns="0" rtlCol="0" anchor="t"/>
          <a:lstStyle/>
          <a:p>
            <a:pPr marL="0" indent="0">
              <a:buNone/>
            </a:pPr>
            <a:r>
              <a:rPr lang="en-US" sz="950">
                <a:solidFill>
                  <a:srgbClr val="DCDCDC"/>
                </a:solidFill>
                <a:latin typeface="Calibri" pitchFamily="34" charset="0"/>
                <a:ea typeface="Calibri" pitchFamily="34" charset="-122"/>
                <a:cs typeface="Calibri" pitchFamily="34" charset="-120"/>
              </a:rPr>
              <a:t>in finance, legal or health, to run Horus for a quarter</a:t>
            </a:r>
            <a:endParaRPr lang="en-US" sz="950"/>
          </a:p>
        </p:txBody>
      </p:sp>
      <p:sp>
        <p:nvSpPr>
          <p:cNvPr id="30" name="Text 27"/>
          <p:cNvSpPr txBox="1"/>
          <p:nvPr/>
        </p:nvSpPr>
        <p:spPr>
          <a:xfrm>
            <a:off x="6217920" y="2606040"/>
            <a:ext cx="2286000" cy="228600"/>
          </a:xfrm>
          <a:prstGeom prst="rect">
            <a:avLst/>
          </a:prstGeom>
          <a:noFill/>
          <a:ln/>
        </p:spPr>
        <p:txBody>
          <a:bodyPr wrap="square" lIns="0" tIns="0" rIns="0" bIns="0" rtlCol="0" anchor="ctr"/>
          <a:lstStyle/>
          <a:p>
            <a:pPr marL="0" indent="0">
              <a:buNone/>
            </a:pPr>
            <a:r>
              <a:rPr lang="en-US" sz="1150" b="1">
                <a:solidFill>
                  <a:srgbClr val="E67E22"/>
                </a:solidFill>
                <a:latin typeface="Calibri" pitchFamily="34" charset="0"/>
                <a:ea typeface="Calibri" pitchFamily="34" charset="-122"/>
                <a:cs typeface="Calibri" pitchFamily="34" charset="-120"/>
              </a:rPr>
              <a:t>A hardware partner</a:t>
            </a:r>
            <a:endParaRPr lang="en-US" sz="1150"/>
          </a:p>
        </p:txBody>
      </p:sp>
      <p:sp>
        <p:nvSpPr>
          <p:cNvPr id="31" name="Text 28"/>
          <p:cNvSpPr txBox="1"/>
          <p:nvPr/>
        </p:nvSpPr>
        <p:spPr>
          <a:xfrm>
            <a:off x="6217920" y="2834640"/>
            <a:ext cx="2286000" cy="365760"/>
          </a:xfrm>
          <a:prstGeom prst="rect">
            <a:avLst/>
          </a:prstGeom>
          <a:noFill/>
          <a:ln/>
        </p:spPr>
        <p:txBody>
          <a:bodyPr wrap="square" lIns="0" tIns="0" rIns="0" bIns="0" rtlCol="0" anchor="t"/>
          <a:lstStyle/>
          <a:p>
            <a:pPr marL="0" indent="0">
              <a:buNone/>
            </a:pPr>
            <a:r>
              <a:rPr lang="en-US" sz="950">
                <a:solidFill>
                  <a:srgbClr val="DCDCDC"/>
                </a:solidFill>
                <a:latin typeface="Calibri" pitchFamily="34" charset="0"/>
                <a:ea typeface="Calibri" pitchFamily="34" charset="-122"/>
                <a:cs typeface="Calibri" pitchFamily="34" charset="-120"/>
              </a:rPr>
              <a:t>to supply and finance the rental AI boxes</a:t>
            </a:r>
            <a:endParaRPr lang="en-US" sz="950"/>
          </a:p>
        </p:txBody>
      </p:sp>
      <p:sp>
        <p:nvSpPr>
          <p:cNvPr id="32" name="Text 29"/>
          <p:cNvSpPr txBox="1"/>
          <p:nvPr/>
        </p:nvSpPr>
        <p:spPr>
          <a:xfrm>
            <a:off x="6217920" y="3200400"/>
            <a:ext cx="2286000" cy="228600"/>
          </a:xfrm>
          <a:prstGeom prst="rect">
            <a:avLst/>
          </a:prstGeom>
          <a:noFill/>
          <a:ln/>
        </p:spPr>
        <p:txBody>
          <a:bodyPr wrap="square" lIns="0" tIns="0" rIns="0" bIns="0" rtlCol="0" anchor="ctr"/>
          <a:lstStyle/>
          <a:p>
            <a:pPr marL="0" indent="0">
              <a:buNone/>
            </a:pPr>
            <a:r>
              <a:rPr lang="en-US" sz="1150" b="1">
                <a:solidFill>
                  <a:srgbClr val="E67E22"/>
                </a:solidFill>
                <a:latin typeface="Calibri" pitchFamily="34" charset="0"/>
                <a:ea typeface="Calibri" pitchFamily="34" charset="-122"/>
                <a:cs typeface="Calibri" pitchFamily="34" charset="-120"/>
              </a:rPr>
              <a:t>Honest feedback</a:t>
            </a:r>
            <a:endParaRPr lang="en-US" sz="1150"/>
          </a:p>
        </p:txBody>
      </p:sp>
      <p:sp>
        <p:nvSpPr>
          <p:cNvPr id="33" name="Text 30"/>
          <p:cNvSpPr txBox="1"/>
          <p:nvPr/>
        </p:nvSpPr>
        <p:spPr>
          <a:xfrm>
            <a:off x="6217920" y="3429000"/>
            <a:ext cx="2286000" cy="365760"/>
          </a:xfrm>
          <a:prstGeom prst="rect">
            <a:avLst/>
          </a:prstGeom>
          <a:noFill/>
          <a:ln/>
        </p:spPr>
        <p:txBody>
          <a:bodyPr wrap="square" lIns="0" tIns="0" rIns="0" bIns="0" rtlCol="0" anchor="t"/>
          <a:lstStyle/>
          <a:p>
            <a:pPr marL="0" indent="0">
              <a:buNone/>
            </a:pPr>
            <a:r>
              <a:rPr lang="en-US" sz="950">
                <a:solidFill>
                  <a:srgbClr val="DCDCDC"/>
                </a:solidFill>
                <a:latin typeface="Calibri" pitchFamily="34" charset="0"/>
                <a:ea typeface="Calibri" pitchFamily="34" charset="-122"/>
                <a:cs typeface="Calibri" pitchFamily="34" charset="-120"/>
              </a:rPr>
              <a:t>on the price, the pitch, and who you would sell this to</a:t>
            </a:r>
            <a:endParaRPr lang="en-US" sz="9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Team - who built what</a:t>
            </a:r>
            <a:endParaRPr lang="en-US" sz="2600"/>
          </a:p>
        </p:txBody>
      </p:sp>
      <p:sp>
        <p:nvSpPr>
          <p:cNvPr id="4" name="Text 2"/>
          <p:cNvSpPr txBox="1"/>
          <p:nvPr/>
        </p:nvSpPr>
        <p:spPr>
          <a:xfrm>
            <a:off x="457200" y="850392"/>
            <a:ext cx="8229600" cy="320040"/>
          </a:xfrm>
          <a:prstGeom prst="rect">
            <a:avLst/>
          </a:prstGeom>
          <a:noFill/>
          <a:ln/>
        </p:spPr>
        <p:txBody>
          <a:bodyPr wrap="square" lIns="0" tIns="0" rIns="0" bIns="0" rtlCol="0" anchor="ctr"/>
          <a:lstStyle/>
          <a:p>
            <a:pPr marL="0" indent="0">
              <a:buNone/>
            </a:pPr>
            <a:r>
              <a:rPr lang="en-US" sz="1200" i="1">
                <a:solidFill>
                  <a:srgbClr val="4682B4"/>
                </a:solidFill>
                <a:latin typeface="Calibri" pitchFamily="34" charset="0"/>
                <a:ea typeface="Calibri" pitchFamily="34" charset="-122"/>
                <a:cs typeface="Calibri" pitchFamily="34" charset="-120"/>
              </a:rPr>
              <a:t>Three people, one product, eighteen months</a:t>
            </a:r>
            <a:endParaRPr lang="en-US" sz="1200"/>
          </a:p>
        </p:txBody>
      </p:sp>
      <p:sp>
        <p:nvSpPr>
          <p:cNvPr id="5" name="Shape 3"/>
          <p:cNvSpPr/>
          <p:nvPr/>
        </p:nvSpPr>
        <p:spPr>
          <a:xfrm>
            <a:off x="457200" y="1417320"/>
            <a:ext cx="2651760" cy="2377440"/>
          </a:xfrm>
          <a:prstGeom prst="roundRect">
            <a:avLst>
              <a:gd name="adj" fmla="val 3077"/>
            </a:avLst>
          </a:prstGeom>
          <a:solidFill>
            <a:srgbClr val="252B3B"/>
          </a:solidFill>
          <a:ln w="9525">
            <a:solidFill>
              <a:srgbClr val="343B4F"/>
            </a:solidFill>
            <a:prstDash val="solid"/>
          </a:ln>
        </p:spPr>
      </p:sp>
      <p:sp>
        <p:nvSpPr>
          <p:cNvPr id="6" name="Shape 4"/>
          <p:cNvSpPr/>
          <p:nvPr/>
        </p:nvSpPr>
        <p:spPr>
          <a:xfrm>
            <a:off x="640080" y="1600200"/>
            <a:ext cx="548640" cy="548640"/>
          </a:xfrm>
          <a:prstGeom prst="ellipse">
            <a:avLst/>
          </a:prstGeom>
          <a:solidFill>
            <a:srgbClr val="4682B4"/>
          </a:solidFill>
          <a:ln w="12700">
            <a:solidFill>
              <a:srgbClr val="4682B4"/>
            </a:solidFill>
            <a:prstDash val="solid"/>
          </a:ln>
        </p:spPr>
      </p:sp>
      <p:sp>
        <p:nvSpPr>
          <p:cNvPr id="7" name="Text 5"/>
          <p:cNvSpPr txBox="1"/>
          <p:nvPr/>
        </p:nvSpPr>
        <p:spPr>
          <a:xfrm>
            <a:off x="640080" y="1600200"/>
            <a:ext cx="548640" cy="54864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LM</a:t>
            </a:r>
            <a:endParaRPr lang="en-US" sz="1600"/>
          </a:p>
        </p:txBody>
      </p:sp>
      <p:sp>
        <p:nvSpPr>
          <p:cNvPr id="8" name="Text 6"/>
          <p:cNvSpPr txBox="1"/>
          <p:nvPr/>
        </p:nvSpPr>
        <p:spPr>
          <a:xfrm>
            <a:off x="640080" y="2240280"/>
            <a:ext cx="2286000" cy="292608"/>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Loup Marquez-Luttringer</a:t>
            </a:r>
            <a:endParaRPr lang="en-US" sz="1300"/>
          </a:p>
        </p:txBody>
      </p:sp>
      <p:sp>
        <p:nvSpPr>
          <p:cNvPr id="9" name="Text 7"/>
          <p:cNvSpPr txBox="1"/>
          <p:nvPr/>
        </p:nvSpPr>
        <p:spPr>
          <a:xfrm>
            <a:off x="640080" y="2532888"/>
            <a:ext cx="2286000" cy="256032"/>
          </a:xfrm>
          <a:prstGeom prst="rect">
            <a:avLst/>
          </a:prstGeom>
          <a:noFill/>
          <a:ln/>
        </p:spPr>
        <p:txBody>
          <a:bodyPr wrap="square" lIns="0" tIns="0" rIns="0" bIns="0" rtlCol="0" anchor="ctr"/>
          <a:lstStyle/>
          <a:p>
            <a:pPr marL="0" indent="0">
              <a:buNone/>
            </a:pPr>
            <a:r>
              <a:rPr lang="en-US" sz="1050">
                <a:solidFill>
                  <a:srgbClr val="4682B4"/>
                </a:solidFill>
                <a:latin typeface="Calibri" pitchFamily="34" charset="0"/>
                <a:ea typeface="Calibri" pitchFamily="34" charset="-122"/>
                <a:cs typeface="Calibri" pitchFamily="34" charset="-120"/>
              </a:rPr>
              <a:t>Team Lead</a:t>
            </a:r>
            <a:endParaRPr lang="en-US" sz="1050"/>
          </a:p>
        </p:txBody>
      </p:sp>
      <p:sp>
        <p:nvSpPr>
          <p:cNvPr id="10" name="Text 8"/>
          <p:cNvSpPr txBox="1"/>
          <p:nvPr/>
        </p:nvSpPr>
        <p:spPr>
          <a:xfrm>
            <a:off x="640080" y="2834640"/>
            <a:ext cx="2286000" cy="868680"/>
          </a:xfrm>
          <a:prstGeom prst="rect">
            <a:avLst/>
          </a:prstGeom>
          <a:noFill/>
          <a:ln/>
        </p:spPr>
        <p:txBody>
          <a:bodyPr wrap="square" lIns="0" tIns="0" rIns="0" bIns="0" rtlCol="0" anchor="t"/>
          <a:lstStyle/>
          <a:p>
            <a:pPr marL="0" indent="0">
              <a:buNone/>
            </a:pPr>
            <a:r>
              <a:rPr lang="en-US" sz="1000">
                <a:solidFill>
                  <a:srgbClr val="DCDCDC"/>
                </a:solidFill>
                <a:latin typeface="Calibri" pitchFamily="34" charset="0"/>
                <a:ea typeface="Calibri" pitchFamily="34" charset="-122"/>
                <a:cs typeface="Calibri" pitchFamily="34" charset="-120"/>
              </a:rPr>
              <a:t>Product, agents and the document pipeline. Delivery: the installer, the beta, the test plan.</a:t>
            </a:r>
            <a:endParaRPr lang="en-US" sz="1000"/>
          </a:p>
        </p:txBody>
      </p:sp>
      <p:sp>
        <p:nvSpPr>
          <p:cNvPr id="11" name="Shape 9"/>
          <p:cNvSpPr/>
          <p:nvPr/>
        </p:nvSpPr>
        <p:spPr>
          <a:xfrm>
            <a:off x="3246120" y="1417320"/>
            <a:ext cx="2651760" cy="2377440"/>
          </a:xfrm>
          <a:prstGeom prst="roundRect">
            <a:avLst>
              <a:gd name="adj" fmla="val 3077"/>
            </a:avLst>
          </a:prstGeom>
          <a:solidFill>
            <a:srgbClr val="252B3B"/>
          </a:solidFill>
          <a:ln w="9525">
            <a:solidFill>
              <a:srgbClr val="343B4F"/>
            </a:solidFill>
            <a:prstDash val="solid"/>
          </a:ln>
        </p:spPr>
      </p:sp>
      <p:sp>
        <p:nvSpPr>
          <p:cNvPr id="12" name="Shape 10"/>
          <p:cNvSpPr/>
          <p:nvPr/>
        </p:nvSpPr>
        <p:spPr>
          <a:xfrm>
            <a:off x="3429000" y="1600200"/>
            <a:ext cx="548640" cy="548640"/>
          </a:xfrm>
          <a:prstGeom prst="ellipse">
            <a:avLst/>
          </a:prstGeom>
          <a:solidFill>
            <a:srgbClr val="4682B4"/>
          </a:solidFill>
          <a:ln w="12700">
            <a:solidFill>
              <a:srgbClr val="4682B4"/>
            </a:solidFill>
            <a:prstDash val="solid"/>
          </a:ln>
        </p:spPr>
      </p:sp>
      <p:sp>
        <p:nvSpPr>
          <p:cNvPr id="13" name="Text 11"/>
          <p:cNvSpPr txBox="1"/>
          <p:nvPr/>
        </p:nvSpPr>
        <p:spPr>
          <a:xfrm>
            <a:off x="3429000" y="1600200"/>
            <a:ext cx="548640" cy="54864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NG</a:t>
            </a:r>
            <a:endParaRPr lang="en-US" sz="1600"/>
          </a:p>
        </p:txBody>
      </p:sp>
      <p:sp>
        <p:nvSpPr>
          <p:cNvPr id="14" name="Text 12"/>
          <p:cNvSpPr txBox="1"/>
          <p:nvPr/>
        </p:nvSpPr>
        <p:spPr>
          <a:xfrm>
            <a:off x="3429000" y="2240280"/>
            <a:ext cx="2286000" cy="292608"/>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Noah Gibelli</a:t>
            </a:r>
            <a:endParaRPr lang="en-US" sz="1300"/>
          </a:p>
        </p:txBody>
      </p:sp>
      <p:sp>
        <p:nvSpPr>
          <p:cNvPr id="15" name="Text 13"/>
          <p:cNvSpPr txBox="1"/>
          <p:nvPr/>
        </p:nvSpPr>
        <p:spPr>
          <a:xfrm>
            <a:off x="3429000" y="2532888"/>
            <a:ext cx="2286000" cy="256032"/>
          </a:xfrm>
          <a:prstGeom prst="rect">
            <a:avLst/>
          </a:prstGeom>
          <a:noFill/>
          <a:ln/>
        </p:spPr>
        <p:txBody>
          <a:bodyPr wrap="square" lIns="0" tIns="0" rIns="0" bIns="0" rtlCol="0" anchor="ctr"/>
          <a:lstStyle/>
          <a:p>
            <a:pPr marL="0" indent="0">
              <a:buNone/>
            </a:pPr>
            <a:r>
              <a:rPr lang="en-US" sz="1050">
                <a:solidFill>
                  <a:srgbClr val="4682B4"/>
                </a:solidFill>
                <a:latin typeface="Calibri" pitchFamily="34" charset="0"/>
                <a:ea typeface="Calibri" pitchFamily="34" charset="-122"/>
                <a:cs typeface="Calibri" pitchFamily="34" charset="-120"/>
              </a:rPr>
              <a:t>Architecture &amp; AI</a:t>
            </a:r>
            <a:endParaRPr lang="en-US" sz="1050"/>
          </a:p>
        </p:txBody>
      </p:sp>
      <p:sp>
        <p:nvSpPr>
          <p:cNvPr id="16" name="Text 14"/>
          <p:cNvSpPr txBox="1"/>
          <p:nvPr/>
        </p:nvSpPr>
        <p:spPr>
          <a:xfrm>
            <a:off x="3429000" y="2818027"/>
            <a:ext cx="2432197" cy="885293"/>
          </a:xfrm>
          <a:prstGeom prst="rect">
            <a:avLst/>
          </a:prstGeom>
          <a:noFill/>
          <a:ln/>
        </p:spPr>
        <p:txBody>
          <a:bodyPr wrap="square" lIns="0" tIns="0" rIns="0" bIns="0" rtlCol="0" anchor="t"/>
          <a:lstStyle/>
          <a:p>
            <a:r>
              <a:rPr lang="en-US" sz="1000">
                <a:solidFill>
                  <a:srgbClr val="DCDCDC"/>
                </a:solidFill>
                <a:latin typeface="Calibri"/>
                <a:ea typeface="Calibri"/>
                <a:cs typeface="Calibri"/>
              </a:rPr>
              <a:t>Designed how the agents coordinate, security and the backend orchestration.</a:t>
            </a:r>
            <a:endParaRPr lang="en-US" sz="1000">
              <a:latin typeface="Calibri"/>
              <a:ea typeface="Calibri"/>
              <a:cs typeface="Calibri"/>
            </a:endParaRPr>
          </a:p>
        </p:txBody>
      </p:sp>
      <p:sp>
        <p:nvSpPr>
          <p:cNvPr id="17" name="Shape 15"/>
          <p:cNvSpPr/>
          <p:nvPr/>
        </p:nvSpPr>
        <p:spPr>
          <a:xfrm>
            <a:off x="6035040" y="1417320"/>
            <a:ext cx="2651760" cy="2377440"/>
          </a:xfrm>
          <a:prstGeom prst="roundRect">
            <a:avLst>
              <a:gd name="adj" fmla="val 3077"/>
            </a:avLst>
          </a:prstGeom>
          <a:solidFill>
            <a:srgbClr val="252B3B"/>
          </a:solidFill>
          <a:ln w="9525">
            <a:solidFill>
              <a:srgbClr val="343B4F"/>
            </a:solidFill>
            <a:prstDash val="solid"/>
          </a:ln>
        </p:spPr>
      </p:sp>
      <p:sp>
        <p:nvSpPr>
          <p:cNvPr id="18" name="Shape 16"/>
          <p:cNvSpPr/>
          <p:nvPr/>
        </p:nvSpPr>
        <p:spPr>
          <a:xfrm>
            <a:off x="6217920" y="1600200"/>
            <a:ext cx="548640" cy="548640"/>
          </a:xfrm>
          <a:prstGeom prst="ellipse">
            <a:avLst/>
          </a:prstGeom>
          <a:solidFill>
            <a:srgbClr val="4682B4"/>
          </a:solidFill>
          <a:ln w="12700">
            <a:solidFill>
              <a:srgbClr val="4682B4"/>
            </a:solidFill>
            <a:prstDash val="solid"/>
          </a:ln>
        </p:spPr>
      </p:sp>
      <p:sp>
        <p:nvSpPr>
          <p:cNvPr id="19" name="Text 17"/>
          <p:cNvSpPr txBox="1"/>
          <p:nvPr/>
        </p:nvSpPr>
        <p:spPr>
          <a:xfrm>
            <a:off x="6217920" y="1600200"/>
            <a:ext cx="548640" cy="54864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ML</a:t>
            </a:r>
            <a:endParaRPr lang="en-US" sz="1600"/>
          </a:p>
        </p:txBody>
      </p:sp>
      <p:sp>
        <p:nvSpPr>
          <p:cNvPr id="20" name="Text 18"/>
          <p:cNvSpPr txBox="1"/>
          <p:nvPr/>
        </p:nvSpPr>
        <p:spPr>
          <a:xfrm>
            <a:off x="6217920" y="2240280"/>
            <a:ext cx="2286000" cy="292608"/>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Matheus Lopez</a:t>
            </a:r>
            <a:endParaRPr lang="en-US" sz="1300"/>
          </a:p>
        </p:txBody>
      </p:sp>
      <p:sp>
        <p:nvSpPr>
          <p:cNvPr id="21" name="Text 19"/>
          <p:cNvSpPr txBox="1"/>
          <p:nvPr/>
        </p:nvSpPr>
        <p:spPr>
          <a:xfrm>
            <a:off x="6217920" y="2532888"/>
            <a:ext cx="2286000" cy="256032"/>
          </a:xfrm>
          <a:prstGeom prst="rect">
            <a:avLst/>
          </a:prstGeom>
          <a:noFill/>
          <a:ln/>
        </p:spPr>
        <p:txBody>
          <a:bodyPr wrap="square" lIns="0" tIns="0" rIns="0" bIns="0" rtlCol="0" anchor="ctr"/>
          <a:lstStyle/>
          <a:p>
            <a:pPr marL="0" indent="0">
              <a:buNone/>
            </a:pPr>
            <a:r>
              <a:rPr lang="en-US" sz="1050">
                <a:solidFill>
                  <a:srgbClr val="4682B4"/>
                </a:solidFill>
                <a:latin typeface="Calibri" pitchFamily="34" charset="0"/>
                <a:ea typeface="Calibri" pitchFamily="34" charset="-122"/>
                <a:cs typeface="Calibri" pitchFamily="34" charset="-120"/>
              </a:rPr>
              <a:t>Front-end &amp; Knowledge Store</a:t>
            </a:r>
            <a:endParaRPr lang="en-US" sz="1050"/>
          </a:p>
        </p:txBody>
      </p:sp>
      <p:sp>
        <p:nvSpPr>
          <p:cNvPr id="22" name="Text 20"/>
          <p:cNvSpPr txBox="1"/>
          <p:nvPr/>
        </p:nvSpPr>
        <p:spPr>
          <a:xfrm>
            <a:off x="6217920" y="2834640"/>
            <a:ext cx="2286000" cy="868680"/>
          </a:xfrm>
          <a:prstGeom prst="rect">
            <a:avLst/>
          </a:prstGeom>
          <a:noFill/>
          <a:ln/>
        </p:spPr>
        <p:txBody>
          <a:bodyPr wrap="square" lIns="0" tIns="0" rIns="0" bIns="0" rtlCol="0" anchor="t"/>
          <a:lstStyle/>
          <a:p>
            <a:pPr marL="0" indent="0">
              <a:buNone/>
            </a:pPr>
            <a:r>
              <a:rPr lang="en-US" sz="1000">
                <a:solidFill>
                  <a:srgbClr val="DCDCDC"/>
                </a:solidFill>
                <a:latin typeface="Calibri" pitchFamily="34" charset="0"/>
                <a:ea typeface="Calibri" pitchFamily="34" charset="-122"/>
                <a:cs typeface="Calibri" pitchFamily="34" charset="-120"/>
              </a:rPr>
              <a:t>The interface you saw, real-time updates, and the document search behind the answers.</a:t>
            </a:r>
            <a:endParaRPr lang="en-US" sz="1000"/>
          </a:p>
        </p:txBody>
      </p:sp>
      <p:sp>
        <p:nvSpPr>
          <p:cNvPr id="23" name="Text 21"/>
          <p:cNvSpPr txBox="1"/>
          <p:nvPr/>
        </p:nvSpPr>
        <p:spPr>
          <a:xfrm>
            <a:off x="457200" y="4023360"/>
            <a:ext cx="8229600" cy="274320"/>
          </a:xfrm>
          <a:prstGeom prst="rect">
            <a:avLst/>
          </a:prstGeom>
          <a:noFill/>
          <a:ln/>
        </p:spPr>
        <p:txBody>
          <a:bodyPr wrap="square" lIns="0" tIns="0" rIns="0" bIns="0" rtlCol="0" anchor="ctr"/>
          <a:lstStyle/>
          <a:p>
            <a:pPr marL="0" indent="0" algn="ctr">
              <a:buNone/>
            </a:pPr>
            <a:r>
              <a:rPr lang="en-US" sz="950" i="1" err="1">
                <a:solidFill>
                  <a:srgbClr val="9AA3B5"/>
                </a:solidFill>
                <a:latin typeface="Calibri"/>
                <a:ea typeface="Calibri"/>
                <a:cs typeface="Calibri"/>
              </a:rPr>
              <a:t>Epitech</a:t>
            </a:r>
            <a:r>
              <a:rPr lang="en-US" sz="950" i="1">
                <a:solidFill>
                  <a:srgbClr val="9AA3B5"/>
                </a:solidFill>
                <a:latin typeface="Calibri"/>
                <a:ea typeface="Calibri"/>
                <a:cs typeface="Calibri"/>
              </a:rPr>
              <a:t> Barcelona · EIP project · epitech.eu</a:t>
            </a:r>
            <a:endParaRPr lang="en-US" sz="950">
              <a:latin typeface="Calibri"/>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333"/>
        </a:solidFill>
        <a:effectLst/>
      </p:bgPr>
    </p:bg>
    <p:spTree>
      <p:nvGrpSpPr>
        <p:cNvPr id="1" name=""/>
        <p:cNvGrpSpPr/>
        <p:nvPr/>
      </p:nvGrpSpPr>
      <p:grpSpPr>
        <a:xfrm>
          <a:off x="0" y="0"/>
          <a:ext cx="0" cy="0"/>
          <a:chOff x="0" y="0"/>
          <a:chExt cx="0" cy="0"/>
        </a:xfrm>
      </p:grpSpPr>
      <p:sp>
        <p:nvSpPr>
          <p:cNvPr id="2" name="Text 0"/>
          <p:cNvSpPr txBox="1"/>
          <p:nvPr/>
        </p:nvSpPr>
        <p:spPr>
          <a:xfrm>
            <a:off x="457200" y="4828032"/>
            <a:ext cx="8229600" cy="228600"/>
          </a:xfrm>
          <a:prstGeom prst="rect">
            <a:avLst/>
          </a:prstGeom>
          <a:noFill/>
          <a:ln/>
        </p:spPr>
        <p:txBody>
          <a:bodyPr wrap="square" lIns="0" tIns="0" rIns="0" bIns="0" rtlCol="0" anchor="ctr"/>
          <a:lstStyle/>
          <a:p>
            <a:pPr marL="0" indent="0" algn="ctr">
              <a:buNone/>
            </a:pPr>
            <a:r>
              <a:rPr lang="en-US" sz="750" kern="0" spc="200">
                <a:solidFill>
                  <a:srgbClr val="6B7386"/>
                </a:solidFill>
                <a:latin typeface="Calibri" pitchFamily="34" charset="0"/>
                <a:ea typeface="Calibri" pitchFamily="34" charset="-122"/>
                <a:cs typeface="Calibri" pitchFamily="34" charset="-120"/>
              </a:rPr>
              <a:t>HORUS  ·  EPITECH EIP  ·  PITCH &amp; DEMO  ·  SEPTEMBER 2026</a:t>
            </a:r>
            <a:endParaRPr lang="en-US" sz="750"/>
          </a:p>
        </p:txBody>
      </p:sp>
      <p:sp>
        <p:nvSpPr>
          <p:cNvPr id="3" name="Text 1"/>
          <p:cNvSpPr txBox="1"/>
          <p:nvPr/>
        </p:nvSpPr>
        <p:spPr>
          <a:xfrm>
            <a:off x="457200" y="1234440"/>
            <a:ext cx="8229600" cy="822960"/>
          </a:xfrm>
          <a:prstGeom prst="rect">
            <a:avLst/>
          </a:prstGeom>
          <a:noFill/>
          <a:ln/>
        </p:spPr>
        <p:txBody>
          <a:bodyPr wrap="square" lIns="0" tIns="0" rIns="0" bIns="0" rtlCol="0" anchor="ctr"/>
          <a:lstStyle/>
          <a:p>
            <a:pPr marL="0" indent="0" algn="ctr">
              <a:buNone/>
            </a:pPr>
            <a:r>
              <a:rPr lang="en-US" sz="4600" b="1" kern="0" spc="600">
                <a:solidFill>
                  <a:srgbClr val="FFFFFF"/>
                </a:solidFill>
                <a:latin typeface="Calibri" pitchFamily="34" charset="0"/>
                <a:ea typeface="Calibri" pitchFamily="34" charset="-122"/>
                <a:cs typeface="Calibri" pitchFamily="34" charset="-120"/>
              </a:rPr>
              <a:t>HORUS</a:t>
            </a:r>
            <a:endParaRPr lang="en-US" sz="4600"/>
          </a:p>
        </p:txBody>
      </p:sp>
      <p:sp>
        <p:nvSpPr>
          <p:cNvPr id="4" name="Text 2"/>
          <p:cNvSpPr txBox="1"/>
          <p:nvPr/>
        </p:nvSpPr>
        <p:spPr>
          <a:xfrm>
            <a:off x="457200" y="2103120"/>
            <a:ext cx="8229600" cy="457200"/>
          </a:xfrm>
          <a:prstGeom prst="rect">
            <a:avLst/>
          </a:prstGeom>
          <a:noFill/>
          <a:ln/>
        </p:spPr>
        <p:txBody>
          <a:bodyPr wrap="square" lIns="0" tIns="0" rIns="0" bIns="0" rtlCol="0" anchor="ctr"/>
          <a:lstStyle/>
          <a:p>
            <a:pPr marL="0" indent="0" algn="ctr">
              <a:buNone/>
            </a:pPr>
            <a:r>
              <a:rPr lang="en-US" sz="2000">
                <a:solidFill>
                  <a:srgbClr val="4682B4"/>
                </a:solidFill>
                <a:latin typeface="Calibri" pitchFamily="34" charset="0"/>
                <a:ea typeface="Calibri" pitchFamily="34" charset="-122"/>
                <a:cs typeface="Calibri" pitchFamily="34" charset="-120"/>
              </a:rPr>
              <a:t>Built. Tested. Running on your hardware.</a:t>
            </a:r>
            <a:endParaRPr lang="en-US" sz="2000"/>
          </a:p>
        </p:txBody>
      </p:sp>
      <p:sp>
        <p:nvSpPr>
          <p:cNvPr id="5" name="Shape 3"/>
          <p:cNvSpPr/>
          <p:nvPr/>
        </p:nvSpPr>
        <p:spPr>
          <a:xfrm>
            <a:off x="3291840" y="2788920"/>
            <a:ext cx="2560320" cy="457200"/>
          </a:xfrm>
          <a:prstGeom prst="roundRect">
            <a:avLst>
              <a:gd name="adj" fmla="val 16000"/>
            </a:avLst>
          </a:prstGeom>
          <a:solidFill>
            <a:srgbClr val="252B3B"/>
          </a:solidFill>
          <a:ln w="9525">
            <a:solidFill>
              <a:srgbClr val="343B4F"/>
            </a:solidFill>
            <a:prstDash val="solid"/>
          </a:ln>
        </p:spPr>
      </p:sp>
      <p:pic>
        <p:nvPicPr>
          <p:cNvPr id="6" name="Image 0" descr="preencoded.png"/>
          <p:cNvPicPr>
            <a:picLocks noChangeAspect="1"/>
          </p:cNvPicPr>
          <p:nvPr/>
        </p:nvPicPr>
        <p:blipFill>
          <a:blip r:embed="rId3"/>
          <a:stretch>
            <a:fillRect/>
          </a:stretch>
        </p:blipFill>
        <p:spPr>
          <a:xfrm>
            <a:off x="3474720" y="2880360"/>
            <a:ext cx="274320" cy="274320"/>
          </a:xfrm>
          <a:prstGeom prst="rect">
            <a:avLst/>
          </a:prstGeom>
        </p:spPr>
      </p:pic>
      <p:sp>
        <p:nvSpPr>
          <p:cNvPr id="7" name="Text 4"/>
          <p:cNvSpPr txBox="1"/>
          <p:nvPr/>
        </p:nvSpPr>
        <p:spPr>
          <a:xfrm>
            <a:off x="3794760" y="2788920"/>
            <a:ext cx="2011680" cy="45720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100% data sovereignty</a:t>
            </a:r>
            <a:endParaRPr lang="en-US" sz="1300"/>
          </a:p>
        </p:txBody>
      </p:sp>
      <p:sp>
        <p:nvSpPr>
          <p:cNvPr id="8" name="Text 5"/>
          <p:cNvSpPr txBox="1"/>
          <p:nvPr/>
        </p:nvSpPr>
        <p:spPr>
          <a:xfrm>
            <a:off x="457200" y="3474720"/>
            <a:ext cx="8229600" cy="365760"/>
          </a:xfrm>
          <a:prstGeom prst="rect">
            <a:avLst/>
          </a:prstGeom>
          <a:noFill/>
          <a:ln/>
        </p:spPr>
        <p:txBody>
          <a:bodyPr wrap="square" lIns="0" tIns="0" rIns="0" bIns="0" rtlCol="0" anchor="ctr"/>
          <a:lstStyle/>
          <a:p>
            <a:pPr marL="0" indent="0" algn="ctr">
              <a:buNone/>
            </a:pPr>
            <a:r>
              <a:rPr lang="en-US" sz="1400" i="1">
                <a:solidFill>
                  <a:srgbClr val="DCDCDC"/>
                </a:solidFill>
                <a:latin typeface="Calibri" pitchFamily="34" charset="0"/>
                <a:ea typeface="Calibri" pitchFamily="34" charset="-122"/>
                <a:cs typeface="Calibri" pitchFamily="34" charset="-120"/>
              </a:rPr>
              <a:t>Your AI. Your servers. Your rules.</a:t>
            </a:r>
            <a:endParaRPr lang="en-US" sz="1400"/>
          </a:p>
        </p:txBody>
      </p:sp>
      <p:sp>
        <p:nvSpPr>
          <p:cNvPr id="9" name="Text 6"/>
          <p:cNvSpPr txBox="1"/>
          <p:nvPr/>
        </p:nvSpPr>
        <p:spPr>
          <a:xfrm>
            <a:off x="457200" y="3931920"/>
            <a:ext cx="8229600" cy="365760"/>
          </a:xfrm>
          <a:prstGeom prst="rect">
            <a:avLst/>
          </a:prstGeom>
          <a:noFill/>
          <a:ln/>
        </p:spPr>
        <p:txBody>
          <a:bodyPr wrap="square" lIns="0" tIns="0" rIns="0" bIns="0" rtlCol="0" anchor="ctr"/>
          <a:lstStyle/>
          <a:p>
            <a:pPr marL="0" indent="0" algn="ctr">
              <a:buNone/>
            </a:pPr>
            <a:r>
              <a:rPr lang="en-US" sz="1300">
                <a:solidFill>
                  <a:srgbClr val="4682B4"/>
                </a:solidFill>
                <a:latin typeface="Calibri" pitchFamily="34" charset="0"/>
                <a:ea typeface="Calibri" pitchFamily="34" charset="-122"/>
                <a:cs typeface="Calibri" pitchFamily="34" charset="-120"/>
              </a:rPr>
              <a:t>We are ready for your questions.</a:t>
            </a:r>
            <a:endParaRPr lang="en-US" sz="13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Horus - Pitch &amp; Demo</dc:title>
  <dc:subject>PptxGenJS Presentation</dc:subject>
  <dc:creator>Horus team</dc:creator>
  <cp:revision>1</cp:revision>
  <dcterms:created xsi:type="dcterms:W3CDTF">2026-09-09T13:10:07Z</dcterms:created>
  <dcterms:modified xsi:type="dcterms:W3CDTF">2026-09-09T14:35:10Z</dcterms:modified>
</cp:coreProperties>
</file>