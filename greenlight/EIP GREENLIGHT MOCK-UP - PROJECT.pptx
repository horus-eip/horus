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ihCiUcWVNwKEz65FfJq95rfT3I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80f11a68_6_0)">
  <p:cSld name="Generated (g3de80f11a68_6_0)">
    <p:bg>
      <p:bgPr>
        <a:solidFill>
          <a:srgbClr val="1E233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1E233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1E23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1E2333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1E2333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1E233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rgbClr val="1E2333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1E2333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rgbClr val="1E233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rgbClr val="1E233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1E2333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1E2333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E23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5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4682B4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571500" y="114300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HORUS MAS</a:t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571500" y="2286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Multi-Agent Orchestration System</a:t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571500" y="3048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SELF-HOSTED  ·  PRIVATE  ·  REAL-TIME</a:t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571500" y="38862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Loup Marquez  ·  Noah Gibelli  ·  Matheus Lopez</a:t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457200" spcFirstLastPara="1" rIns="4572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571500" y="152400"/>
            <a:ext cx="800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 — Why Cloud AI Fails Enterprise</a:t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71500" y="990600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Companies need AI internally — but can't trust external cloud platforms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571500" y="1447800"/>
            <a:ext cx="2514600" cy="23622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 cap="flat" cmpd="sng" w="12700">
            <a:solidFill>
              <a:srgbClr val="E539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98500" y="1600200"/>
            <a:ext cx="22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Sent Externally</a:t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98500" y="2057400"/>
            <a:ext cx="2260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ChatGPT, Claude, Copilot — every query leaves your servers. Zero control over sensitive data.</a:t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3352800" y="1447800"/>
            <a:ext cx="2514600" cy="23622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 cap="flat" cmpd="sng" w="12700">
            <a:solidFill>
              <a:srgbClr val="FF8F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479800" y="1600200"/>
            <a:ext cx="22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Unpredictable Costs</a:t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479800" y="2057400"/>
            <a:ext cx="2260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Opaque per-token pricing. No budget control. Costs scale unpredictably with usage.</a:t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134100" y="1447800"/>
            <a:ext cx="2514600" cy="23622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 cap="flat" cmpd="sng" w="12700">
            <a:solidFill>
              <a:srgbClr val="FF6D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261100" y="1600200"/>
            <a:ext cx="22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Vendor Lock-in</a:t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261100" y="2057400"/>
            <a:ext cx="2260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One API change breaks your entire workflow. No portability, no fallback.</a:t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571500" y="39624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For regulated industries (finance, healthcare, legal, defense), cloud AI is highly restrictive.</a:t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457200" spcFirstLastPara="1" rIns="4572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/>
          <p:nvPr/>
        </p:nvSpPr>
        <p:spPr>
          <a:xfrm>
            <a:off x="571500" y="1524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Horus: Private AI, At Scale, On Your Terms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71500" y="800100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Self-hosted, modular, real-time multi-agent orchestration platform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571500" y="1371600"/>
            <a:ext cx="2286000" cy="381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857500" y="1371600"/>
            <a:ext cx="2286000" cy="381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Horus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143500" y="1371600"/>
            <a:ext cx="2286000" cy="3810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Cloud AI </a:t>
            </a:r>
            <a:r>
              <a:rPr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(Ch</a:t>
            </a:r>
            <a:r>
              <a:rPr lang="en-US" sz="1200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atGPT, Claude API</a:t>
            </a:r>
            <a:r>
              <a:rPr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sz="1200"/>
          </a:p>
        </p:txBody>
      </p:sp>
      <p:sp>
        <p:nvSpPr>
          <p:cNvPr id="87" name="Google Shape;87;p3"/>
          <p:cNvSpPr/>
          <p:nvPr/>
        </p:nvSpPr>
        <p:spPr>
          <a:xfrm>
            <a:off x="571500" y="1771650"/>
            <a:ext cx="2286000" cy="3429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Self-hosted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2857500" y="1771650"/>
            <a:ext cx="2286000" cy="3429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5143500" y="1771650"/>
            <a:ext cx="2286000" cy="3429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7B7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71500" y="2133600"/>
            <a:ext cx="2286000" cy="3429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Multi-agent Real-time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857500" y="2133600"/>
            <a:ext cx="2286000" cy="3429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5143500" y="2133600"/>
            <a:ext cx="2286000" cy="3429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71500" y="2495550"/>
            <a:ext cx="2286000" cy="3429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Built-in RAG + UI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2857500" y="2495550"/>
            <a:ext cx="2286000" cy="3429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143500" y="2495550"/>
            <a:ext cx="2286000" cy="3429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7B7B"/>
                </a:solidFill>
                <a:latin typeface="Calibri"/>
                <a:ea typeface="Calibri"/>
                <a:cs typeface="Calibri"/>
                <a:sym typeface="Calibri"/>
              </a:rPr>
              <a:t>API only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571500" y="2857500"/>
            <a:ext cx="2286000" cy="3429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RBAC + Management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2857500" y="2857500"/>
            <a:ext cx="2286000" cy="3429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143500" y="2857500"/>
            <a:ext cx="2286000" cy="3429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7B7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71500" y="3219450"/>
            <a:ext cx="2286000" cy="3429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Deploy</a:t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857500" y="3219450"/>
            <a:ext cx="2286000" cy="3429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143500" y="3219450"/>
            <a:ext cx="2286000" cy="342900"/>
          </a:xfrm>
          <a:prstGeom prst="rect">
            <a:avLst/>
          </a:prstGeom>
          <a:solidFill>
            <a:srgbClr val="1E2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>
              <a:solidFill>
                <a:srgbClr val="E67E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71500" y="3581400"/>
            <a:ext cx="2286000" cy="3429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Sovereignty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2857500" y="3581400"/>
            <a:ext cx="2286000" cy="3429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5143500" y="3581400"/>
            <a:ext cx="2286000" cy="34290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7B7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571500" y="2286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— Who Built What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571500" y="914400"/>
            <a:ext cx="2514600" cy="29718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71500" y="914400"/>
            <a:ext cx="2514600" cy="571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71500" y="12954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Loup Marquez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71500" y="16383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Project Lead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85800" y="190500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Agent Service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Project Management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3219450" y="914400"/>
            <a:ext cx="2514600" cy="29718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19450" y="914400"/>
            <a:ext cx="2514600" cy="5715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219450" y="12954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Noah Gibelli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219450" y="16383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Architecture &amp; Docs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333750" y="190500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MAS Architecture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Benchmarks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CI/CD Pipeline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867400" y="914400"/>
            <a:ext cx="2514600" cy="29718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867400" y="914400"/>
            <a:ext cx="2514600" cy="57150"/>
          </a:xfrm>
          <a:prstGeom prst="rect">
            <a:avLst/>
          </a:prstGeom>
          <a:solidFill>
            <a:srgbClr val="2F52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867400" y="12954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Mathieu Lopez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5867400" y="16383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F5233"/>
                </a:solidFill>
                <a:latin typeface="Calibri"/>
                <a:ea typeface="Calibri"/>
                <a:cs typeface="Calibri"/>
                <a:sym typeface="Calibri"/>
              </a:rPr>
              <a:t>Front-End &amp; Knowledge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981700" y="1905000"/>
            <a:ext cx="228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WebSocket Integration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ChromaDB / RAG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UI Design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71500" y="411480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"From prototype to production — three engineers, one vision."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571500" y="1524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 — 4 Services, 1 Platform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71500" y="914400"/>
            <a:ext cx="7620000" cy="5334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b="0" i="0" lang="en-US" sz="14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   Next.js :3000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Real-time chat, admin dashboard, knowledge management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71500" y="914400"/>
            <a:ext cx="57150" cy="5334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191000" y="1447800"/>
            <a:ext cx="381000" cy="76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682B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71500" y="1524000"/>
            <a:ext cx="7620000" cy="5334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Orchestrator</a:t>
            </a:r>
            <a:r>
              <a:rPr b="0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  FastAPI :8000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Routes requests, manages sessions, coordinates agents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71500" y="1524000"/>
            <a:ext cx="57150" cy="533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191000" y="2057400"/>
            <a:ext cx="381000" cy="76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682B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71500" y="2133600"/>
            <a:ext cx="7620000" cy="5334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Messaging</a:t>
            </a:r>
            <a:r>
              <a:rPr b="0" i="0" lang="en-US" sz="14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   RabbitMQ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Async message queue between services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71500" y="2133600"/>
            <a:ext cx="57150" cy="533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191000" y="2667000"/>
            <a:ext cx="381000" cy="76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682B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71500" y="2743200"/>
            <a:ext cx="7620000" cy="5334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Services</a:t>
            </a:r>
            <a:r>
              <a:rPr b="0" i="0" lang="en-US" sz="1400" u="none" cap="none" strike="noStrike">
                <a:solidFill>
                  <a:srgbClr val="2F5233"/>
                </a:solidFill>
                <a:latin typeface="Calibri"/>
                <a:ea typeface="Calibri"/>
                <a:cs typeface="Calibri"/>
                <a:sym typeface="Calibri"/>
              </a:rPr>
              <a:t>   Agent :8001 / Knowledge :8080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LLM inference, RAG pipeline, document processing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71500" y="2743200"/>
            <a:ext cx="57150" cy="533400"/>
          </a:xfrm>
          <a:prstGeom prst="rect">
            <a:avLst/>
          </a:prstGeom>
          <a:solidFill>
            <a:srgbClr val="2F52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191000" y="3276600"/>
            <a:ext cx="381000" cy="76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682B4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71500" y="3352800"/>
            <a:ext cx="7620000" cy="5334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r>
              <a:rPr b="0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   Prometheus + Grafana + Tempo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Metrics, dashboards, distributed tracing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71500" y="3352800"/>
            <a:ext cx="57150" cy="533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571500" y="1524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 1 — Technology Watch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71500" y="762000"/>
            <a:ext cx="2286000" cy="381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71500" y="12192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143000" y="11430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research papers analyzed and synthesized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71500" y="18669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1143000" y="17907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comparison matrix delivered (Horus vs Cloud AI)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71500" y="25146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1143000" y="24384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Proven technology stack integrated into production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71500" y="3429000"/>
            <a:ext cx="3429000" cy="6858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Research Papers Delivered</a:t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571500" y="1524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 2 — Architecture &amp; Documentation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71500" y="762000"/>
            <a:ext cx="2286000" cy="381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71500" y="12192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143000" y="11430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README with Mermaid architecture diagrams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71500" y="18669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143000" y="17907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30+ unit tests with automated CI/CD pipeline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71500" y="25146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143000" y="24384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Comprehensive API documentation for all endpoints</a:t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571500" y="3429000"/>
            <a:ext cx="3429000" cy="6858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CC7DB"/>
                </a:solidFill>
                <a:latin typeface="Calibri"/>
                <a:ea typeface="Calibri"/>
                <a:cs typeface="Calibri"/>
                <a:sym typeface="Calibri"/>
              </a:rPr>
              <a:t>Fully Documented &amp; Tested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571500" y="1524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 A — Protect &amp; Valorize Technology</a:t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71500" y="762000"/>
            <a:ext cx="2286000" cy="38100"/>
          </a:xfrm>
          <a:prstGeom prst="rect">
            <a:avLst/>
          </a:prstGeom>
          <a:solidFill>
            <a:srgbClr val="2F52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71500" y="12192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143000" y="11430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Soleau envelope filed for IP protection</a:t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571500" y="18669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1143000" y="17907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security audit completed — no critical vulnerabilities</a:t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71500" y="25146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143000" y="24384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sovereignty guarantee: 100% on-premise processing</a:t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71500" y="3429000"/>
            <a:ext cx="3429000" cy="6858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IP Protected &amp; Verified</a:t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571500" y="1524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 D — Performance &amp; Optimization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571500" y="762000"/>
            <a:ext cx="22860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71500" y="12192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143000" y="11430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load test scenarios designed and executed with Locust</a:t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71500" y="18669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143000" y="17907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of performance metric targets achieved</a:t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571500" y="25146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143000" y="24384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monitoring operational with Prometheus + Grafana dashboards</a:t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71500" y="3429000"/>
            <a:ext cx="3429000" cy="6858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Performance Targets Met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/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Beta Test Plan — Features 1-12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User Management, Conversations, Documents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457200" y="60960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57200" y="609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in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200400" y="60960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User authentication with JWT token</a:t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7086600" y="6096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30/30 PASS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457200" y="883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F2: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user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3200400" y="8839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Admin creates accounts with role assignment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7086600" y="8839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10/10 PASS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57200" y="115824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1158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F3: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user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3200400" y="115824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Admin removes user access</a:t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7086600" y="11582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5/5 PASS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57200" y="1432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F4: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 role</a:t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3200400" y="143256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Admin changes user roles (admin/manager/user)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086600" y="143256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10/10 PASS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57200" y="170688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57200" y="1706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F5: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all users</a:t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3200400" y="170688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Admin views user list with filters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7086600" y="1706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1/1 PASS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57200" y="1981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F6: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conversation</a:t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200400" y="198120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User creates named conversation</a:t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7086600" y="19812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20/20 PASS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225552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57200" y="2255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F7: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conversations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3200400" y="22555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User views all conversations with search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7086600" y="22555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15/15 PASS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457200" y="2529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F8: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conversation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3200400" y="252984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Owner/Admin/Manager deletes conversation</a:t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086600" y="25298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15/15 PASS</a:t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457200" y="280416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57200" y="2804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F9: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document</a:t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200400" y="280416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System auto-analyzes, categorizes, extracts entities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7086600" y="280416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20/20 PASS</a:t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457200" y="3078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F10: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documents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3200400" y="307848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View uploaded docs with metadata and category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7086600" y="30784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1/1 PASS</a:t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57200" y="335280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3352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F11: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document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200400" y="335280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Remove document from knowledge store</a:t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7086600" y="33528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10/10 PASS</a:t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57200" y="3627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F12: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documents</a:t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3200400" y="36271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Smart search with filters and topic detection</a:t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7086600" y="36271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23/25 (92%)</a:t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57200" y="3977640"/>
            <a:ext cx="8229600" cy="3429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Subtotal: 131/132 tests passed so far (99.2%)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LIVE DEMO PHASE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Beta Test Plan — Features 13-24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Agents, Messaging, Tasks, Analytics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457200" y="60960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57200" y="609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F13: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 agent</a:t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3200400" y="60960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Admin registers agent with API key generation</a:t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7086600" y="6096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5/5 PASS</a:t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57200" y="883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F14: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agents</a:t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3200400" y="8839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Users view all registered agents with status</a:t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7086600" y="8839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1/1 PASS</a:t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57200" y="115824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57200" y="1158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F15: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 message</a:t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3200400" y="115824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User sends message within conversation</a:t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7086600" y="11582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50/50 PASS</a:t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457200" y="1432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F16: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 AI response</a:t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3200400" y="143256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AI returns response with reasoning and citations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086600" y="143256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30/30 PASS</a:t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457200" y="170688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57200" y="1706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F17: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message history</a:t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3200400" y="170688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User views conversation history with correct ordering</a:t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7086600" y="1706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20/20 PASS</a:t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457200" y="1981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F18: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task</a:t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3200400" y="198120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User creates task specifying skills needed</a:t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7086600" y="19812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15/15 PASS</a:t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57200" y="225552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57200" y="2255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F19: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task queue</a:t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3200400" y="22555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Manager views queue stats (pending, running, completed)</a:t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7086600" y="22555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20/20 PASS</a:t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57200" y="2529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F20: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Cancel task</a:t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3200400" y="252984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Admin cancels pending or running task</a:t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7086600" y="252984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5/5 PASS</a:t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57200" y="280416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57200" y="2804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F21: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 task result</a:t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3200400" y="280416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User receives task completion via WebSocket</a:t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7086600" y="280416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20/20 PASS</a:t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57200" y="3078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F22: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dashboard</a:t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3200400" y="307848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User accesses dashboard with analytics graph (&amp;lt;3s)</a:t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7086600" y="30784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25/25 PASS</a:t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457200" y="3352800"/>
            <a:ext cx="8229600" cy="274320"/>
          </a:xfrm>
          <a:prstGeom prst="rect">
            <a:avLst/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57200" y="3352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F23: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analytics</a:t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3200400" y="335280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Real-time system analytics with live graph updates</a:t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7086600" y="33528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30/30 PASS</a:t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457200" y="3627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37150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F24: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agent</a:t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3200400" y="3627120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Admin/Manager unregisters agent from system</a:t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7086600" y="36271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3/3 PASS</a:t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57200" y="3939540"/>
            <a:ext cx="8229600" cy="3048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Subtotal: 224/225 tests passed (99.6%)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57200" y="4282440"/>
            <a:ext cx="8229600" cy="30480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(Slide 10a + 10b): 23/24 Features PASS — 355/357 Tests (99.4% Success Rate)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18275" lIns="91425" spcFirstLastPara="1" rIns="9142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LIVE DEMO PHASE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"/>
          <p:cNvSpPr/>
          <p:nvPr/>
        </p:nvSpPr>
        <p:spPr>
          <a:xfrm>
            <a:off x="571500" y="22860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 — 20 Minutes</a:t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571500" y="685800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Scenario: Alice Chen, IT Director at FinCorp, deploys Horus for her team</a:t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571500" y="1143000"/>
            <a:ext cx="25908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 Platform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0:00</a:t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3238500" y="1143000"/>
            <a:ext cx="25908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Account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2:00</a:t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5905500" y="1143000"/>
            <a:ext cx="25908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AI Agent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4:00</a:t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571500" y="1981200"/>
            <a:ext cx="25908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Documents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6:00</a:t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3238500" y="1981200"/>
            <a:ext cx="25908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with Agent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8:00</a:t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5905500" y="1981200"/>
            <a:ext cx="25908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F5233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Knowledge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10:00</a:t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571500" y="2819400"/>
            <a:ext cx="25908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F5233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13:00</a:t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3238500" y="2819400"/>
            <a:ext cx="25908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16:00</a:t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5905500" y="2819400"/>
            <a:ext cx="25908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9.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Stress Test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18:00</a:t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571500" y="3733800"/>
            <a:ext cx="8001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Backup: Pre-recorded video available if live demo encounters issues</a:t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/>
          <p:nvPr/>
        </p:nvSpPr>
        <p:spPr>
          <a:xfrm>
            <a:off x="457200" y="2286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5 Roadmap — Post-Jury Continuation</a:t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457200" y="5715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July 2026 – February 2027  ·  TWO PILLARS OF DEVELOPMENT</a:t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57200" y="800100"/>
            <a:ext cx="3886200" cy="2743200"/>
          </a:xfrm>
          <a:prstGeom prst="roundRect">
            <a:avLst>
              <a:gd fmla="val 6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57200" y="800100"/>
            <a:ext cx="3886200" cy="5715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71500" y="914400"/>
            <a:ext cx="3657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 Agent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AI That Works For You</a:t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571500" y="14859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Observes user activity patterns and learns from behavior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Proactive suggestions based on detected needs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Autonomous task execution (no explicit prompt required)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Memory persistence for agents across conversations</a:t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571500" y="27051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Q4 2026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  Foundation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Q4 2026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  Integration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Q1 2027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  Polish &amp; Launch</a:t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4800600" y="800100"/>
            <a:ext cx="3886200" cy="2743200"/>
          </a:xfrm>
          <a:prstGeom prst="roundRect">
            <a:avLst>
              <a:gd fmla="val 6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800600" y="800100"/>
            <a:ext cx="3886200" cy="5715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914900" y="914400"/>
            <a:ext cx="3657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Marketplace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No-Code Agent Creation &amp; Sharing Platform</a:t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4914900" y="14859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Visual agent builder (no-code, drag-and-drop)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Agent versioning and credibility scoring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Sharing and discovery marketplace for agents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Community-contributed agents</a:t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4914900" y="27051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  Foundation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Q4 2026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  Integration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Q1 2027</a:t>
            </a: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  Polish &amp; Launch</a:t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457200" y="3733800"/>
            <a:ext cx="8229600" cy="57150"/>
          </a:xfrm>
          <a:prstGeom prst="roundRect">
            <a:avLst>
              <a:gd fmla="val 6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596390" y="3695700"/>
            <a:ext cx="190500" cy="1905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234440" y="38862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1234440" y="4038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4476750" y="3695700"/>
            <a:ext cx="190500" cy="190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114800" y="38862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Q4 2026</a:t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4114800" y="4038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7357110" y="3695700"/>
            <a:ext cx="190500" cy="19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995160" y="38862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Q1 2027</a:t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995160" y="40386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Polish</a:t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33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/>
          <p:nvPr/>
        </p:nvSpPr>
        <p:spPr>
          <a:xfrm>
            <a:off x="571500" y="6858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Horus MAS</a:t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571500" y="144780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Built, Tested, Proven</a:t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571500" y="2133600"/>
            <a:ext cx="22860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Features Tested</a:t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3048000" y="2133600"/>
            <a:ext cx="22860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95.8%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Pass Rate</a:t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5524500" y="2133600"/>
            <a:ext cx="2286000" cy="762000"/>
          </a:xfrm>
          <a:prstGeom prst="roundRect">
            <a:avLst>
              <a:gd fmla="val 8000" name="adj"/>
            </a:avLst>
          </a:prstGeom>
          <a:solidFill>
            <a:srgbClr val="252B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4+1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Services, 1 Platform</a:t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571500" y="320040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Private AI that runs entirely on your infrastructure.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2857500" y="3733800"/>
            <a:ext cx="3429000" cy="571500"/>
          </a:xfrm>
          <a:prstGeom prst="roundRect">
            <a:avLst>
              <a:gd fmla="val 8000" name="adj"/>
            </a:avLst>
          </a:prstGeom>
          <a:solidFill>
            <a:srgbClr val="4682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are ready for questions.</a:t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CDCDC"/>
                </a:solidFill>
                <a:latin typeface="Calibri"/>
                <a:ea typeface="Calibri"/>
                <a:cs typeface="Calibri"/>
                <a:sym typeface="Calibri"/>
              </a:rPr>
              <a:t>G-EIP-700  ·  EPITECH  ·  TECHNICAL TRACK  ·  APRIL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 [1776822108212]">
  <a:themeElements>
    <a:clrScheme name="Simple Light">
      <a:dk1>
        <a:srgbClr val="FFFFFF"/>
      </a:dk1>
      <a:lt1>
        <a:srgbClr val="1E2333"/>
      </a:lt1>
      <a:dk2>
        <a:srgbClr val="DCDCDC"/>
      </a:dk2>
      <a:lt2>
        <a:srgbClr val="2A3042"/>
      </a:lt2>
      <a:accent1>
        <a:srgbClr val="4682B4"/>
      </a:accent1>
      <a:accent2>
        <a:srgbClr val="1C7293"/>
      </a:accent2>
      <a:accent3>
        <a:srgbClr val="2F5233"/>
      </a:accent3>
      <a:accent4>
        <a:srgbClr val="E67E22"/>
      </a:accent4>
      <a:accent5>
        <a:srgbClr val="4CAF50"/>
      </a:accent5>
      <a:accent6>
        <a:srgbClr val="DCDCDC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